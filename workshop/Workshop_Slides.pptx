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[00–02분 / 2분]</a:t>
            </a:r>
          </a:p>
          <a:p>
            <a:r>
              <a:t>오늘은 승인 상태가 실제 지급 실행에도 적용되는지 확인합니다. 앞에서는 테스트넷 지급 통제, 뒤에서는 독립된 로컬 Privacy 흐름을 실행합니다. 기관의 심사와 원장 통합을 완성했다고 주장하지 않습니다. 실습 준비는 수업 전에 끝났다는 가정입니다.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[02–05분 / 3분]</a:t>
            </a:r>
          </a:p>
          <a:p>
            <a:r>
              <a:t>은행 내부 지급 통제만 필요하다면 Maroo가 반드시 필요한 것은 아닙니다. 대상은 온체인으로 지급을 확장하는 엔지니어입니다. 앱이 잘못된 요청을 보내더라도 체인 실행에서 조건이 유지되는지 묻습니다. BIS의 토큰화 논의는 배경이며 우리 실험이 은행 간 대사 비용을 검증한 것은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[05–07분 / 2분]</a:t>
            </a:r>
          </a:p>
          <a:p>
            <a:r>
              <a:t>구조 소개는 역할 수준으로 제한합니다. 프리컴파일 자체와 관리자가 변경하는 정책 설정을 구분합니다. EVM 도구를 유지하면서 체인 기능을 호출할 수 있다는 점이 참가자에게 중요합니다. 출처: docs.maroo.io/concepts/compliance 및 저장소 공식 ABI.</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[07–10분 / 3분]</a:t>
            </a:r>
          </a:p>
          <a:p>
            <a:r>
              <a:t>EAS attestation과 ZK proof는 다릅니다. EAS가 기업 심사를 수행하지 않습니다. 실습에서는 본인 계정이 데모 자격을 발급합니다. 실제 은행에서는 누가 발급할 수 있는지 별도 통제가 필요합니다. 유효한 증명이 존재한다는 것과 그 안의 bool이 true라는 것은 다른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[10–13분 / 3분]</a:t>
            </a:r>
          </a:p>
          <a:p>
            <a:r>
              <a:t>사용자는 preCall/postCall을 각각 호출하지 않습니다. 프록시 주소와 지급 ABI를 사용합니다. 구현체를 직접 호출하면 프록시 정책 경로와 달라지므로 실제 자산·권한을 보호해야 합니다. 실습 구현은 proxy-only와 owner 검사를 포함합니다. 이는 PCL과 별개인 계약 보호입니다.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[13–15분 / 2분]</a:t>
            </a:r>
          </a:p>
          <a:p>
            <a:r>
              <a:t>설치·빌드·회로 생성은 사전 준비입니다. 전체 참가자 시간 리허설은 아직 하지 않았습니다. 독립 PoC 다음 단계 강의는 없고 결과 해석으로 마칩니다. 조직 적용 후속 항목은 참가자 문서에 남겼습니다.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[15–17분 / 2분]</a:t>
            </a:r>
          </a:p>
          <a:p>
            <a:r>
              <a:t>자신의 지급 계정과 수신자를 확인합니다. 참가자가 이전 제출자의 주소를 무조건 사용하지 않도록 합니다. 기본 lab 명령은 안내만 출력합니다. 이번 실습은 실제 테스트넷 수수료가 들며 실패 거래도 예외가 아닙니다.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[17–22분 / 5분]</a:t>
            </a:r>
          </a:p>
          <a:p>
            <a:r>
              <a:t>5분 동안 wrapper가 배포와 두 거래를 수행합니다. 스크립트에 전역 정책 변경이 없고 자신의 프록시만 변경하는 것을 보여줍니다. 결과의 hash와 포함 영수증을 대조합니다. 지연 시 최대 3분 진단 후 저장 증거 분석으로 전환하고 실제 실행 여부를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[22–24분 / 2분]</a:t>
            </a:r>
          </a:p>
          <a:p>
            <a:r>
              <a:t>실제 실험에서는 attest 성공 직후 indexed=false와 count0이었습니다. 인덱서 등록을 추가한 뒤 EAS 지급이 통과했습니다. 카운트는 폐기된 증명도 포함하므로 개수만으로 유효성을 판단하지 않습니다. 출처: EAS_LIFECYCLE_EAS_RESULT.json.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[24–27분 / 3분]</a:t>
            </a:r>
          </a:p>
          <a:p>
            <a:r>
              <a:t>lab:eas가 일련의 실험을 수행하는 동안 단계별 출력을 관찰합니다. 정책의 오류를 RPC 장애나 잔액 부족과 혼동하지 않습니다. 기존 기록 블록19181675를 열어 실패 영수증과 과거 블록 오류 재확인을 보여줄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[27–30분 / 3분]</a:t>
            </a:r>
          </a:p>
          <a:p>
            <a:r>
              <a:t>성공 기준은 해시가 아니라 포함 영수증, 이벤트, 상태 변화입니다. 이미 실행한 성공 거래 f7062181…를 보여줄 때 과거 실행 기록이라고 명시합니다. 이 자격은 실제 은행 심사가 아니라 데모입니다.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[30–34분 / 4분]</a:t>
            </a:r>
          </a:p>
          <a:p>
            <a:r>
              <a:t>폐기 후 동일한 지급 요청을 직접 전송해 실패를 확인했습니다. 정책은 실험 후 원래 상태로 복원합니다. 참가자에게 누가 폐기 권한을 갖는지 묻습니다. 실제 발급자 통제와 은행의 승인 취소 절차는 다음 설계 경계이며 이 데모로 완료하지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[34–37분 / 3분]</a:t>
            </a:r>
          </a:p>
          <a:p>
            <a:r>
              <a:t>추가 명령은 npm run lab:boolean -- --broadcast입니다. 기본 수업에서는 저장된 실제 기록을 분석하고 빠른 참가자는 직접 실행합니다. 새 스키마·동일 만료·부가 데이터로 비교했고 false 증명을 폐기한 다음 true를 발급했습니다. 증명 데이터를 다시 읽었습니다. 두 건 모두 PolicyCheckPassed가 나왔습니다.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[37–40분 / 3분]</a:t>
            </a:r>
          </a:p>
          <a:p>
            <a:r>
              <a:t>false 동작을 버그라고 단정하지 않습니다. 이번 정책 설정의 실행 의미입니다. 다른 정책이나 resolver까지 일반화하지 않습니다. 은행은 유효한 증명 보유를 승인으로 쓰는지, 페이로드 조건을 검사해야 하는지 결정해야 합니다. 승인하지 않은 대상에게 false 증명을 발급하면 이 설정에서는 지급을 막지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[40–43분 / 3분]</a:t>
            </a:r>
          </a:p>
          <a:p>
            <a:r>
              <a:t>기업은 지급 조건을 지키면서 지급 관계와 금액의 공개 범위를 통제하려 할 수 있습니다. 모든 단계의 모든 정보가 숨겨진다고 설명하지 않습니다. 공개 예치와 shielded note를 구분합니다. PCL 실험 결과와 로컬 Privacy를 하나의 Maroo confidential payment로 합치지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[43–45분 / 2분]</a:t>
            </a:r>
          </a:p>
          <a:p>
            <a:r>
              <a:t>Maroo Privacy용 유효 payload를 만들 선행 연결을 확보하지 못했습니다. proof 거절을 관찰한 것이 아니라 생성 준비 단계에서 막혔습니다. 체험 사이트의 simulation은 실제 EAS 자격 발급 증거로 사용하지 않습니다. 로컬 proof를 호환한다고 추정해 전송하지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[45–47분 / 2분]</a:t>
            </a:r>
          </a:p>
          <a:p>
            <a:r>
              <a:t>노트 소유자·수신 지갑·prover·감사 주체를 구분합니다. 이번에는 로컬 prover와 개발용 아티팩트를 사용했습니다. 공개용 JSON만 보여주고 지갑 키·raw notes는 열지 않습니다. 감사 config가 있다는 이유로 실제 복호화 성공을 주장하지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[47–57분 / 10분]</a:t>
            </a:r>
          </a:p>
          <a:p>
            <a:r>
              <a:t>10분 실행 구간입니다. 사전에 준비한 고정 소스와 아티팩트를 사용합니다. run-local.py --source PATH --run-dir NEW --artifacts PATH --go GO를 LOCAL_RUN 안내에 따라 실행합니다. 빌드 캐시가 없다면 시간 초과가 가능하므로 사전 리허설이 필요합니다. 자동 dummy 준비가 현재 버전에서는 self batch라는 점을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[57–62분 / 5분]</a:t>
            </a:r>
          </a:p>
          <a:p>
            <a:r>
              <a:t>5분 동안 PUBLIC_RESULT를 분석합니다. 노드 종료까지 wrapper가 처리합니다. 기존 증거를 보면 직접 실행 성공과 구분합니다. 독립 재현은 계정과 genesis가 새로웠지만 build/artifact cache는 재사용했음을 명시합니다. uclair는 로컬 자산이며 OKRW와 전환하지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[62–65분 / 3분]</a:t>
            </a:r>
          </a:p>
          <a:p>
            <a:r>
              <a:t>Explorer의 Raw를 IPcl ABI로 parseError하면 정확한 주소를 얻습니다. 내부 문자열 변환 구현은 확인하지 않았으므로 확정 원인으로 단정하지 않습니다. UI 보고와 실행 증거의 강도 차이를 구분합니다. 3분 이상 환경 장애가 계속되면 실제 기록 분석으로 전환합니다.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[65–68분 / 3분]</a:t>
            </a:r>
          </a:p>
          <a:p>
            <a:r>
              <a:t>참가자에게 각 환경에서 한 문장으로 검증한 것을 말하게 합니다. 기존 시스템의 심사와 PCL의 실행 검사를 구분할 수 있어야 합니다. 자체 데모 자격이 은행 승인으로 성립하려면 어떤 통제가 필요한지 묻습니다. 이 질문은 로드맵 강의가 아니라 결과의 한계를 해석하는 질문입니다.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[68–70분 / 2분]</a:t>
            </a:r>
          </a:p>
          <a:p>
            <a:r>
              <a:t>실행하지 않은 항목을 성공으로 세지 않습니다. 참가자별 결과를 기록하고 마칩니다. 정책 복원·데모 증명 폐기·로컬 노드 종료 상태를 확인합니다. 조직별 추가 확인 항목은 문서에 있고 별도 PoC 마무리 강의는 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WORKSHOP</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00–02 MIN  /  2분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승인된 기업만 지급할 수 있는가?</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Track B · 지급 통제와 비공개 지급을 두 실습으로 검증</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대상</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은행·핀테크의</a:t>
            </a:r>
          </a:p>
          <a:p>
            <a:pPr>
              <a:defRPr sz="1800" b="0">
                <a:solidFill>
                  <a:srgbClr val="F3F6FA"/>
                </a:solidFill>
                <a:latin typeface="맑은 고딕"/>
              </a:defRPr>
            </a:pPr>
            <a:r>
              <a:t>시니어 엔지니어</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FFB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FFBD69"/>
                </a:solidFill>
                <a:latin typeface="맑은 고딕"/>
              </a:defRPr>
            </a:pPr>
            <a:r>
              <a:t>프로그램 1</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Maroo 테스트넷</a:t>
            </a:r>
          </a:p>
          <a:p>
            <a:pPr>
              <a:defRPr sz="1800" b="0">
                <a:solidFill>
                  <a:srgbClr val="F3F6FA"/>
                </a:solidFill>
                <a:latin typeface="맑은 고딕"/>
              </a:defRPr>
            </a:pPr>
            <a:r>
              <a:t>PCL · EAS · tOKRW</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프로그램 2</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로컬 Clairveil</a:t>
            </a:r>
          </a:p>
          <a:p>
            <a:pPr>
              <a:defRPr sz="1800" b="0">
                <a:solidFill>
                  <a:srgbClr val="F3F6FA"/>
                </a:solidFill>
                <a:latin typeface="맑은 고딕"/>
              </a:defRPr>
            </a:pPr>
            <a:r>
              <a:t>deposit · transfer · scan</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MAROO DEVREL WORKSHOP  /  TRACK B  /  검토본 v1</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495438"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01 /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BUSINESS</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02–05 MIN  /  3분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은행의 승인 상태를 체인 실행까지 전달합니다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기존 시스템의 심사와 온체인 지급 사이를 연결합니다</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기존 시스템</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기업 심사 · 이용 승인</a:t>
            </a:r>
          </a:p>
          <a:p>
            <a:pPr>
              <a:defRPr sz="1800" b="0">
                <a:solidFill>
                  <a:srgbClr val="F3F6FA"/>
                </a:solidFill>
                <a:latin typeface="맑은 고딕"/>
              </a:defRPr>
            </a:pPr>
            <a:r>
              <a:t>지급 요청 생성</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연결 지점</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어떤 계정에 자격을 주고</a:t>
            </a:r>
          </a:p>
          <a:p>
            <a:pPr>
              <a:defRPr sz="1800" b="0">
                <a:solidFill>
                  <a:srgbClr val="F3F6FA"/>
                </a:solidFill>
                <a:latin typeface="맑은 고딕"/>
              </a:defRPr>
            </a:pPr>
            <a:r>
              <a:t>어떤 경로로 지급할 것인가?</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체인 실행</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유효한 자격이면 지급</a:t>
            </a:r>
          </a:p>
          <a:p>
            <a:pPr>
              <a:defRPr sz="1800" b="0">
                <a:solidFill>
                  <a:srgbClr val="F3F6FA"/>
                </a:solidFill>
                <a:latin typeface="맑은 고딕"/>
              </a:defRPr>
            </a:pPr>
            <a:r>
              <a:t>자격이 없거나 폐기되면 차단</a:t>
            </a:r>
          </a:p>
        </p:txBody>
      </p:sp>
      <p:sp>
        <p:nvSpPr>
          <p:cNvPr id="23" name="Rectangle 22"/>
          <p:cNvSpPr/>
          <p:nvPr/>
        </p:nvSpPr>
        <p:spPr>
          <a:xfrm>
            <a:off x="4023360" y="3886200"/>
            <a:ext cx="411480" cy="41148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50792" y="3867912"/>
            <a:ext cx="411480" cy="411480"/>
          </a:xfrm>
          <a:prstGeom prst="rect">
            <a:avLst/>
          </a:prstGeom>
          <a:noFill/>
        </p:spPr>
        <p:txBody>
          <a:bodyPr wrap="square" lIns="0" rIns="0" tIns="0" bIns="0">
            <a:spAutoFit/>
          </a:bodyPr>
          <a:lstStyle/>
          <a:p>
            <a:pPr>
              <a:defRPr sz="2300" b="1">
                <a:solidFill>
                  <a:srgbClr val="58D6BD"/>
                </a:solidFill>
                <a:latin typeface="맑은 고딕"/>
              </a:defRPr>
            </a:pPr>
            <a:r>
              <a:t>→</a:t>
            </a:r>
          </a:p>
        </p:txBody>
      </p:sp>
      <p:sp>
        <p:nvSpPr>
          <p:cNvPr id="25" name="Rectangle 24"/>
          <p:cNvSpPr/>
          <p:nvPr/>
        </p:nvSpPr>
        <p:spPr>
          <a:xfrm>
            <a:off x="7708392" y="3886200"/>
            <a:ext cx="411480" cy="41148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35823" y="3867912"/>
            <a:ext cx="411480" cy="411480"/>
          </a:xfrm>
          <a:prstGeom prst="rect">
            <a:avLst/>
          </a:prstGeom>
          <a:noFill/>
        </p:spPr>
        <p:txBody>
          <a:bodyPr wrap="square" lIns="0" rIns="0" tIns="0" bIns="0">
            <a:spAutoFit/>
          </a:bodyPr>
          <a:lstStyle/>
          <a:p>
            <a:pPr>
              <a:defRPr sz="2300" b="1">
                <a:solidFill>
                  <a:srgbClr val="58D6BD"/>
                </a:solidFill>
                <a:latin typeface="맑은 고딕"/>
              </a:defRPr>
            </a:pPr>
            <a:r>
              <a:t>→</a:t>
            </a:r>
          </a:p>
        </p:txBody>
      </p:sp>
      <p:sp>
        <p:nvSpPr>
          <p:cNvPr id="27" name="TextBox 26"/>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MAROO DEVREL WORKSHOP  /  TRACK B  /  검토본 v1</a:t>
            </a:r>
          </a:p>
        </p:txBody>
      </p:sp>
      <p:sp>
        <p:nvSpPr>
          <p:cNvPr id="28" name="Rectangle 27"/>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6446520"/>
            <a:ext cx="990877"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31" name="TextBox 30"/>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02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ARCHITECTURE</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05–07 MIN  /  2분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익숙한 EVM 호출에서 체인 기능까지</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Cosmos SDK → EVM → 프리컴파일의 역할을 연결합니다</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Cosmos SDK</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체인 기반과 모듈</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EVM</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컨트랙트 실행</a:t>
            </a:r>
          </a:p>
          <a:p>
            <a:pPr>
              <a:defRPr sz="1800" b="0">
                <a:solidFill>
                  <a:srgbClr val="F3F6FA"/>
                </a:solidFill>
                <a:latin typeface="맑은 고딕"/>
              </a:defRPr>
            </a:pPr>
            <a:r>
              <a:t>ethers · JSON-RPC</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프리컴파일</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EVM에서 PCL·Privacy 등</a:t>
            </a:r>
          </a:p>
          <a:p>
            <a:pPr>
              <a:defRPr sz="1800" b="0">
                <a:solidFill>
                  <a:srgbClr val="F3F6FA"/>
                </a:solidFill>
                <a:latin typeface="맑은 고딕"/>
              </a:defRPr>
            </a:pPr>
            <a:r>
              <a:t>체인 기능에 접근</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MAROO DEVREL WORKSHOP  /  TRACK B  /  검토본 v1</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1486315"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03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CONCEPT</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07–10 MIN  /  3분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EAS는 자격 기록, PCL은 실행 조건 검사</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심사자 · 발급자 · 정책 관리자 · 지급 요청자를 구분합니다</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EAS</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발급자 · 대상 · 스키마</a:t>
            </a:r>
          </a:p>
          <a:p>
            <a:pPr>
              <a:defRPr sz="1800" b="0">
                <a:solidFill>
                  <a:srgbClr val="F3F6FA"/>
                </a:solidFill>
                <a:latin typeface="맑은 고딕"/>
              </a:defRPr>
            </a:pPr>
            <a:r>
              <a:t>만료 · 폐기 · 데이터</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PCL</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지정 자격·조건을 평가</a:t>
            </a:r>
          </a:p>
          <a:p>
            <a:pPr>
              <a:defRPr sz="1800" b="0">
                <a:solidFill>
                  <a:srgbClr val="F3F6FA"/>
                </a:solidFill>
                <a:latin typeface="맑은 고딕"/>
              </a:defRPr>
            </a:pPr>
            <a:r>
              <a:t>프록시 지급 허용 또는 거절</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권한</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실습용 프록시만 관리</a:t>
            </a:r>
          </a:p>
          <a:p>
            <a:pPr>
              <a:defRPr sz="1800" b="0">
                <a:solidFill>
                  <a:srgbClr val="F3F6FA"/>
                </a:solidFill>
                <a:latin typeface="맑은 고딕"/>
              </a:defRPr>
            </a:pPr>
            <a:r>
              <a:t>실제 KYB·발급자 제한 미검증</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MAROO DEVREL WORKSHOP  /  TRACK B  /  검토본 v1</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1981754"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04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LIVE</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10–13 MIN  /  3분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지급 요청은 PCL에 등록된 프록시로 보냅니다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preCall → 지급 로직 → postCall</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요청</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기업 지급 계정</a:t>
            </a:r>
          </a:p>
          <a:p>
            <a:pPr>
              <a:defRPr sz="1800" b="0">
                <a:solidFill>
                  <a:srgbClr val="F3F6FA"/>
                </a:solidFill>
                <a:latin typeface="맑은 고딕"/>
              </a:defRPr>
            </a:pPr>
            <a:r>
              <a:t>pay(recipient), value</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정책 검사</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전역 정책 + 프록시 정책</a:t>
            </a:r>
          </a:p>
          <a:p>
            <a:pPr>
              <a:defRPr sz="1800" b="0">
                <a:solidFill>
                  <a:srgbClr val="F3F6FA"/>
                </a:solidFill>
                <a:latin typeface="맑은 고딕"/>
              </a:defRPr>
            </a:pPr>
            <a:r>
              <a:t>조건 위반 시 중단</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결과</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PolicyCheckPassed</a:t>
            </a:r>
          </a:p>
          <a:p>
            <a:pPr>
              <a:defRPr sz="1800" b="0">
                <a:solidFill>
                  <a:srgbClr val="F3F6FA"/>
                </a:solidFill>
                <a:latin typeface="맑은 고딕"/>
              </a:defRPr>
            </a:pPr>
            <a:r>
              <a:t>영수증 · 수신자 잔액</a:t>
            </a:r>
          </a:p>
        </p:txBody>
      </p:sp>
      <p:sp>
        <p:nvSpPr>
          <p:cNvPr id="23" name="Rectangle 22"/>
          <p:cNvSpPr/>
          <p:nvPr/>
        </p:nvSpPr>
        <p:spPr>
          <a:xfrm>
            <a:off x="4023360" y="3886200"/>
            <a:ext cx="411480" cy="41148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50792" y="3867912"/>
            <a:ext cx="411480" cy="411480"/>
          </a:xfrm>
          <a:prstGeom prst="rect">
            <a:avLst/>
          </a:prstGeom>
          <a:noFill/>
        </p:spPr>
        <p:txBody>
          <a:bodyPr wrap="square" lIns="0" rIns="0" tIns="0" bIns="0">
            <a:spAutoFit/>
          </a:bodyPr>
          <a:lstStyle/>
          <a:p>
            <a:pPr>
              <a:defRPr sz="2300" b="1">
                <a:solidFill>
                  <a:srgbClr val="58D6BD"/>
                </a:solidFill>
                <a:latin typeface="맑은 고딕"/>
              </a:defRPr>
            </a:pPr>
            <a:r>
              <a:t>→</a:t>
            </a:r>
          </a:p>
        </p:txBody>
      </p:sp>
      <p:sp>
        <p:nvSpPr>
          <p:cNvPr id="25" name="Rectangle 24"/>
          <p:cNvSpPr/>
          <p:nvPr/>
        </p:nvSpPr>
        <p:spPr>
          <a:xfrm>
            <a:off x="7708392" y="3886200"/>
            <a:ext cx="411480" cy="41148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35823" y="3867912"/>
            <a:ext cx="411480" cy="411480"/>
          </a:xfrm>
          <a:prstGeom prst="rect">
            <a:avLst/>
          </a:prstGeom>
          <a:noFill/>
        </p:spPr>
        <p:txBody>
          <a:bodyPr wrap="square" lIns="0" rIns="0" tIns="0" bIns="0">
            <a:spAutoFit/>
          </a:bodyPr>
          <a:lstStyle/>
          <a:p>
            <a:pPr>
              <a:defRPr sz="2300" b="1">
                <a:solidFill>
                  <a:srgbClr val="58D6BD"/>
                </a:solidFill>
                <a:latin typeface="맑은 고딕"/>
              </a:defRPr>
            </a:pPr>
            <a:r>
              <a:t>→</a:t>
            </a:r>
          </a:p>
        </p:txBody>
      </p:sp>
      <p:sp>
        <p:nvSpPr>
          <p:cNvPr id="27" name="TextBox 26"/>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실제 테스트넷 | 개별 거래의 처리 결과를 확인</a:t>
            </a:r>
          </a:p>
        </p:txBody>
      </p:sp>
      <p:sp>
        <p:nvSpPr>
          <p:cNvPr id="28" name="Rectangle 27"/>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0080" y="6446520"/>
            <a:ext cx="2477192"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31" name="TextBox 30"/>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05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AGENDA</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13–15 MIN  /  2분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70분 동안 두 환경의 증거를 모읍니다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설명 15분 → Maroo 25분 → Privacy 30분</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00–15</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업무 문제 · 구조</a:t>
            </a:r>
          </a:p>
          <a:p>
            <a:pPr>
              <a:defRPr sz="1800" b="0">
                <a:solidFill>
                  <a:srgbClr val="F3F6FA"/>
                </a:solidFill>
                <a:latin typeface="맑은 고딕"/>
              </a:defRPr>
            </a:pPr>
            <a:r>
              <a:t>역할과 실행 경계</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FFB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FFBD69"/>
                </a:solidFill>
                <a:latin typeface="맑은 고딕"/>
              </a:defRPr>
            </a:pPr>
            <a:r>
              <a:t>15–40</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프록시 · EAS 실행</a:t>
            </a:r>
          </a:p>
          <a:p>
            <a:pPr>
              <a:defRPr sz="1800" b="0">
                <a:solidFill>
                  <a:srgbClr val="F3F6FA"/>
                </a:solidFill>
                <a:latin typeface="맑은 고딕"/>
              </a:defRPr>
            </a:pPr>
            <a:r>
              <a:t>false/true 결과 해석</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40–70</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Privacy 설명·실습</a:t>
            </a:r>
          </a:p>
          <a:p>
            <a:pPr>
              <a:defRPr sz="1800" b="0">
                <a:solidFill>
                  <a:srgbClr val="F3F6FA"/>
                </a:solidFill>
                <a:latin typeface="맑은 고딕"/>
              </a:defRPr>
            </a:pPr>
            <a:r>
              <a:t>공개 범위와 결과 판독</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MAROO DEVREL WORKSHOP  /  TRACK B  /  검토본 v1</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2972631"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06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LIVE</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15–17 MIN  /  2분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실습 준비 / 네트워크와 지급 계정을 확인합니다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chain ID 450815 · 테스트 전용 키 · 서로 다른 수신자</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확인</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npm run check:rpc</a:t>
            </a:r>
          </a:p>
          <a:p>
            <a:pPr>
              <a:defRPr sz="1800" b="0">
                <a:solidFill>
                  <a:srgbClr val="F3F6FA"/>
                </a:solidFill>
                <a:latin typeface="맑은 고딕"/>
              </a:defRPr>
            </a:pPr>
            <a:r>
              <a:t>npm run balance</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서명 입력</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로컬 .env에만 보관</a:t>
            </a:r>
          </a:p>
          <a:p>
            <a:pPr>
              <a:defRPr sz="1800" b="0">
                <a:solidFill>
                  <a:srgbClr val="F3F6FA"/>
                </a:solidFill>
                <a:latin typeface="맑은 고딕"/>
              </a:defRPr>
            </a:pPr>
            <a:r>
              <a:t>키 화면 공유 금지</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실행 규칙</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--broadcast 명시</a:t>
            </a:r>
          </a:p>
          <a:p>
            <a:pPr>
              <a:defRPr sz="1800" b="0">
                <a:solidFill>
                  <a:srgbClr val="F3F6FA"/>
                </a:solidFill>
                <a:latin typeface="맑은 고딕"/>
              </a:defRPr>
            </a:pPr>
            <a:r>
              <a:t>타임아웃 시 hash 먼저 확인</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실제 테스트넷 | 개별 거래의 처리 결과를 확인</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3468069"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07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LIVE</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17–22 MIN  /  5분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실습 1 / 프록시에서 지급과 차단을 비교합니다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npm run lab:pcl -- --broadcast</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배포·등록</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구현체와 전용 프록시</a:t>
            </a:r>
          </a:p>
          <a:p>
            <a:pPr>
              <a:defRPr sz="1800" b="0">
                <a:solidFill>
                  <a:srgbClr val="F3F6FA"/>
                </a:solidFill>
                <a:latin typeface="맑은 고딕"/>
              </a:defRPr>
            </a:pPr>
            <a:r>
              <a:t>관리자 주소 확인</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정상 지급</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빈 Denylist → 0.001 지급</a:t>
            </a:r>
          </a:p>
          <a:p>
            <a:pPr>
              <a:defRPr sz="1800" b="0">
                <a:solidFill>
                  <a:srgbClr val="F3F6FA"/>
                </a:solidFill>
                <a:latin typeface="맑은 고딕"/>
              </a:defRPr>
            </a:pPr>
            <a:r>
              <a:t>status 1 · 이벤트</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차단 지급</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송신자 차단 → 동일 요청</a:t>
            </a:r>
          </a:p>
          <a:p>
            <a:pPr>
              <a:defRPr sz="1800" b="0">
                <a:solidFill>
                  <a:srgbClr val="F3F6FA"/>
                </a:solidFill>
                <a:latin typeface="맑은 고딕"/>
              </a:defRPr>
            </a:pPr>
            <a:r>
              <a:t>status 0 · 지급 변화 0</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실제 테스트넷 | 개별 거래의 처리 결과를 확인</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3963508"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08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LIVE</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22–24 MIN  /  2분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EAS는 발급 이후 인덱서 등록도 확인합니다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증명의 존재와 PCL이 찾을 수 있는 상태를 구분합니다</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등록</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실습 전용 schema</a:t>
            </a:r>
          </a:p>
          <a:p>
            <a:pPr>
              <a:defRPr sz="1800" b="0">
                <a:solidFill>
                  <a:srgbClr val="F3F6FA"/>
                </a:solidFill>
                <a:latin typeface="맑은 고딕"/>
              </a:defRPr>
            </a:pPr>
            <a:r>
              <a:t>resolver 없는 데모</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발급</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자격 대상 · 만료 · 데이터</a:t>
            </a:r>
          </a:p>
          <a:p>
            <a:pPr>
              <a:defRPr sz="1800" b="0">
                <a:solidFill>
                  <a:srgbClr val="F3F6FA"/>
                </a:solidFill>
                <a:latin typeface="맑은 고딕"/>
              </a:defRPr>
            </a:pPr>
            <a:r>
              <a:t>getAttestation으로 확인</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인덱싱</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indexAttestation(uid)</a:t>
            </a:r>
          </a:p>
          <a:p>
            <a:pPr>
              <a:defRPr sz="1800" b="0">
                <a:solidFill>
                  <a:srgbClr val="F3F6FA"/>
                </a:solidFill>
                <a:latin typeface="맑은 고딕"/>
              </a:defRPr>
            </a:pPr>
            <a:r>
              <a:t>indexed=true 확인</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실제 테스트넷 | 개별 거래의 처리 결과를 확인</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4458946"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09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LIVE</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24–27 MIN  /  3분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실습 2 / 자격이 없으면 지급되지 않습니다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npm run lab:eas -- --broadcast</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고정할 조건</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같은 계정 · 수신자</a:t>
            </a:r>
          </a:p>
          <a:p>
            <a:pPr>
              <a:defRPr sz="1800" b="0">
                <a:solidFill>
                  <a:srgbClr val="F3F6FA"/>
                </a:solidFill>
                <a:latin typeface="맑은 고딕"/>
              </a:defRPr>
            </a:pPr>
            <a:r>
              <a:t>0.001 tOKRW · 같은 함수</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자격 없음</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EasNoAttestationReceived</a:t>
            </a:r>
          </a:p>
          <a:p>
            <a:pPr>
              <a:defRPr sz="1800" b="0">
                <a:solidFill>
                  <a:srgbClr val="F3F6FA"/>
                </a:solidFill>
                <a:latin typeface="맑은 고딕"/>
              </a:defRPr>
            </a:pPr>
            <a:r>
              <a:t>포함 영수증 status 0</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상태 확인</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수신자 증가 0</a:t>
            </a:r>
          </a:p>
          <a:p>
            <a:pPr>
              <a:defRPr sz="1800" b="0">
                <a:solidFill>
                  <a:srgbClr val="F3F6FA"/>
                </a:solidFill>
                <a:latin typeface="맑은 고딕"/>
              </a:defRPr>
            </a:pPr>
            <a:r>
              <a:t>paymentCount 유지</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실제 테스트넷 | 개별 거래의 처리 결과를 확인</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4954385"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LIVE</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27–30 MIN  /  3분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실습 2 / 자격 발급 후 지급이 완료됩니다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유효한 데모 자격 + 인덱싱 → 정상 지급</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자격 확인</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schema · recipient 일치</a:t>
            </a:r>
          </a:p>
          <a:p>
            <a:pPr>
              <a:defRPr sz="1800" b="0">
                <a:solidFill>
                  <a:srgbClr val="F3F6FA"/>
                </a:solidFill>
                <a:latin typeface="맑은 고딕"/>
              </a:defRPr>
            </a:pPr>
            <a:r>
              <a:t>미폐기 · 유효기간 내</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실행</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status 1</a:t>
            </a:r>
          </a:p>
          <a:p>
            <a:pPr>
              <a:defRPr sz="1800" b="0">
                <a:solidFill>
                  <a:srgbClr val="F3F6FA"/>
                </a:solidFill>
                <a:latin typeface="맑은 고딕"/>
              </a:defRPr>
            </a:pPr>
            <a:r>
              <a:t>PolicyCheckPassed</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지급 확인</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수신자 +0.001 tOKRW</a:t>
            </a:r>
          </a:p>
          <a:p>
            <a:pPr>
              <a:defRPr sz="1800" b="0">
                <a:solidFill>
                  <a:srgbClr val="F3F6FA"/>
                </a:solidFill>
                <a:latin typeface="맑은 고딕"/>
              </a:defRPr>
            </a:pPr>
            <a:r>
              <a:t>paymentCount +1</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실제 테스트넷 | 개별 거래의 처리 결과를 확인</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5449824"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LIVE</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30–34 MIN  /  4분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실습 2 / 자격을 폐기하면 다시 차단됩니다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승인 취소를 다음 지급 실행에 반영하는지 확인합니다</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폐기</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발급자가 revoke</a:t>
            </a:r>
          </a:p>
          <a:p>
            <a:pPr>
              <a:defRPr sz="1800" b="0">
                <a:solidFill>
                  <a:srgbClr val="F3F6FA"/>
                </a:solidFill>
                <a:latin typeface="맑은 고딕"/>
              </a:defRPr>
            </a:pPr>
            <a:r>
              <a:t>revocationTime 확인</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같은 지급</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EasAttestationRevoked</a:t>
            </a:r>
          </a:p>
          <a:p>
            <a:pPr>
              <a:defRPr sz="1800" b="0">
                <a:solidFill>
                  <a:srgbClr val="F3F6FA"/>
                </a:solidFill>
                <a:latin typeface="맑은 고딕"/>
              </a:defRPr>
            </a:pPr>
            <a:r>
              <a:t>status 0</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해석</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지급액 이동 없음</a:t>
            </a:r>
          </a:p>
          <a:p>
            <a:pPr>
              <a:defRPr sz="1800" b="0">
                <a:solidFill>
                  <a:srgbClr val="F3F6FA"/>
                </a:solidFill>
                <a:latin typeface="맑은 고딕"/>
              </a:defRPr>
            </a:pPr>
            <a:r>
              <a:t>실패 거래 수수료는 발생</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실제 테스트넷 | 개별 거래의 처리 결과를 확인</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5945262"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LIVE</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34–37 MIN  /  3분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false인 증명도 지급이 통과했습니다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실제 데이터 값과 지급 결과를 대조한 실험</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29000"/>
            <a:ext cx="3127248" cy="640080"/>
          </a:xfrm>
          <a:prstGeom prst="rect">
            <a:avLst/>
          </a:prstGeom>
          <a:noFill/>
        </p:spPr>
        <p:txBody>
          <a:bodyPr wrap="square" lIns="0" rIns="0" tIns="0" bIns="0">
            <a:spAutoFit/>
          </a:bodyPr>
          <a:lstStyle/>
          <a:p>
            <a:pPr>
              <a:defRPr sz="3000" b="1">
                <a:solidFill>
                  <a:srgbClr val="58D6BD"/>
                </a:solidFill>
                <a:latin typeface="맑은 고딕"/>
              </a:defRPr>
            </a:pPr>
            <a:r>
              <a:t>없음</a:t>
            </a:r>
          </a:p>
        </p:txBody>
      </p:sp>
      <p:sp>
        <p:nvSpPr>
          <p:cNvPr id="12" name="TextBox 11"/>
          <p:cNvSpPr txBox="1"/>
          <p:nvPr/>
        </p:nvSpPr>
        <p:spPr>
          <a:xfrm>
            <a:off x="841247" y="4096512"/>
            <a:ext cx="3127248" cy="274320"/>
          </a:xfrm>
          <a:prstGeom prst="rect">
            <a:avLst/>
          </a:prstGeom>
          <a:noFill/>
        </p:spPr>
        <p:txBody>
          <a:bodyPr wrap="square" lIns="0" rIns="0" tIns="0" bIns="0">
            <a:spAutoFit/>
          </a:bodyPr>
          <a:lstStyle/>
          <a:p>
            <a:pPr>
              <a:defRPr sz="1200" b="0">
                <a:solidFill>
                  <a:srgbClr val="A9BAD0"/>
                </a:solidFill>
                <a:latin typeface="맑은 고딕"/>
              </a:defRPr>
            </a:pPr>
            <a:r>
              <a:t>자격 상태</a:t>
            </a:r>
          </a:p>
        </p:txBody>
      </p:sp>
      <p:sp>
        <p:nvSpPr>
          <p:cNvPr id="13" name="TextBox 12"/>
          <p:cNvSpPr txBox="1"/>
          <p:nvPr/>
        </p:nvSpPr>
        <p:spPr>
          <a:xfrm>
            <a:off x="841247" y="4553712"/>
            <a:ext cx="3127248" cy="731520"/>
          </a:xfrm>
          <a:prstGeom prst="rect">
            <a:avLst/>
          </a:prstGeom>
          <a:noFill/>
        </p:spPr>
        <p:txBody>
          <a:bodyPr wrap="square" lIns="0" rIns="0" tIns="0" bIns="0">
            <a:spAutoFit/>
          </a:bodyPr>
          <a:lstStyle/>
          <a:p>
            <a:pPr>
              <a:defRPr sz="1700" b="0">
                <a:solidFill>
                  <a:srgbClr val="F3F6FA"/>
                </a:solidFill>
                <a:latin typeface="맑은 고딕"/>
              </a:defRPr>
            </a:pPr>
            <a:r>
              <a:t>지급 차단</a:t>
            </a:r>
          </a:p>
        </p:txBody>
      </p:sp>
      <p:sp>
        <p:nvSpPr>
          <p:cNvPr id="14" name="Rectangle 13"/>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429000"/>
            <a:ext cx="3127248" cy="640080"/>
          </a:xfrm>
          <a:prstGeom prst="rect">
            <a:avLst/>
          </a:prstGeom>
          <a:noFill/>
        </p:spPr>
        <p:txBody>
          <a:bodyPr wrap="square" lIns="0" rIns="0" tIns="0" bIns="0">
            <a:spAutoFit/>
          </a:bodyPr>
          <a:lstStyle/>
          <a:p>
            <a:pPr>
              <a:defRPr sz="3000" b="1">
                <a:solidFill>
                  <a:srgbClr val="58D6BD"/>
                </a:solidFill>
                <a:latin typeface="맑은 고딕"/>
              </a:defRPr>
            </a:pPr>
            <a:r>
              <a:t>false</a:t>
            </a:r>
          </a:p>
        </p:txBody>
      </p:sp>
      <p:sp>
        <p:nvSpPr>
          <p:cNvPr id="18" name="TextBox 17"/>
          <p:cNvSpPr txBox="1"/>
          <p:nvPr/>
        </p:nvSpPr>
        <p:spPr>
          <a:xfrm>
            <a:off x="4526280" y="4096512"/>
            <a:ext cx="3127248" cy="274320"/>
          </a:xfrm>
          <a:prstGeom prst="rect">
            <a:avLst/>
          </a:prstGeom>
          <a:noFill/>
        </p:spPr>
        <p:txBody>
          <a:bodyPr wrap="square" lIns="0" rIns="0" tIns="0" bIns="0">
            <a:spAutoFit/>
          </a:bodyPr>
          <a:lstStyle/>
          <a:p>
            <a:pPr>
              <a:defRPr sz="1200" b="0">
                <a:solidFill>
                  <a:srgbClr val="A9BAD0"/>
                </a:solidFill>
                <a:latin typeface="맑은 고딕"/>
              </a:defRPr>
            </a:pPr>
            <a:r>
              <a:t>자격 상태</a:t>
            </a:r>
          </a:p>
        </p:txBody>
      </p:sp>
      <p:sp>
        <p:nvSpPr>
          <p:cNvPr id="19" name="TextBox 18"/>
          <p:cNvSpPr txBox="1"/>
          <p:nvPr/>
        </p:nvSpPr>
        <p:spPr>
          <a:xfrm>
            <a:off x="4526280" y="4553712"/>
            <a:ext cx="3127248" cy="731520"/>
          </a:xfrm>
          <a:prstGeom prst="rect">
            <a:avLst/>
          </a:prstGeom>
          <a:noFill/>
        </p:spPr>
        <p:txBody>
          <a:bodyPr wrap="square" lIns="0" rIns="0" tIns="0" bIns="0">
            <a:spAutoFit/>
          </a:bodyPr>
          <a:lstStyle/>
          <a:p>
            <a:pPr>
              <a:defRPr sz="1700" b="0">
                <a:solidFill>
                  <a:srgbClr val="F3F6FA"/>
                </a:solidFill>
                <a:latin typeface="맑은 고딕"/>
              </a:defRPr>
            </a:pPr>
            <a:r>
              <a:t>0.001 tOKRW 지급 성공</a:t>
            </a:r>
          </a:p>
        </p:txBody>
      </p:sp>
      <p:sp>
        <p:nvSpPr>
          <p:cNvPr id="20" name="Rectangle 19"/>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3429000"/>
            <a:ext cx="3127248" cy="640080"/>
          </a:xfrm>
          <a:prstGeom prst="rect">
            <a:avLst/>
          </a:prstGeom>
          <a:noFill/>
        </p:spPr>
        <p:txBody>
          <a:bodyPr wrap="square" lIns="0" rIns="0" tIns="0" bIns="0">
            <a:spAutoFit/>
          </a:bodyPr>
          <a:lstStyle/>
          <a:p>
            <a:pPr>
              <a:defRPr sz="3000" b="1">
                <a:solidFill>
                  <a:srgbClr val="FFBD69"/>
                </a:solidFill>
                <a:latin typeface="맑은 고딕"/>
              </a:defRPr>
            </a:pPr>
            <a:r>
              <a:t>true</a:t>
            </a:r>
          </a:p>
        </p:txBody>
      </p:sp>
      <p:sp>
        <p:nvSpPr>
          <p:cNvPr id="24" name="TextBox 23"/>
          <p:cNvSpPr txBox="1"/>
          <p:nvPr/>
        </p:nvSpPr>
        <p:spPr>
          <a:xfrm>
            <a:off x="8211312" y="4096512"/>
            <a:ext cx="3127248" cy="274320"/>
          </a:xfrm>
          <a:prstGeom prst="rect">
            <a:avLst/>
          </a:prstGeom>
          <a:noFill/>
        </p:spPr>
        <p:txBody>
          <a:bodyPr wrap="square" lIns="0" rIns="0" tIns="0" bIns="0">
            <a:spAutoFit/>
          </a:bodyPr>
          <a:lstStyle/>
          <a:p>
            <a:pPr>
              <a:defRPr sz="1200" b="0">
                <a:solidFill>
                  <a:srgbClr val="A9BAD0"/>
                </a:solidFill>
                <a:latin typeface="맑은 고딕"/>
              </a:defRPr>
            </a:pPr>
            <a:r>
              <a:t>자격 상태</a:t>
            </a:r>
          </a:p>
        </p:txBody>
      </p:sp>
      <p:sp>
        <p:nvSpPr>
          <p:cNvPr id="25" name="TextBox 24"/>
          <p:cNvSpPr txBox="1"/>
          <p:nvPr/>
        </p:nvSpPr>
        <p:spPr>
          <a:xfrm>
            <a:off x="8211312" y="4553712"/>
            <a:ext cx="3127248" cy="731520"/>
          </a:xfrm>
          <a:prstGeom prst="rect">
            <a:avLst/>
          </a:prstGeom>
          <a:noFill/>
        </p:spPr>
        <p:txBody>
          <a:bodyPr wrap="square" lIns="0" rIns="0" tIns="0" bIns="0">
            <a:spAutoFit/>
          </a:bodyPr>
          <a:lstStyle/>
          <a:p>
            <a:pPr>
              <a:defRPr sz="1700" b="0">
                <a:solidFill>
                  <a:srgbClr val="F3F6FA"/>
                </a:solidFill>
                <a:latin typeface="맑은 고딕"/>
              </a:defRPr>
            </a:pPr>
            <a:r>
              <a:t>0.001 tOKRW 지급 성공</a:t>
            </a:r>
          </a:p>
        </p:txBody>
      </p:sp>
      <p:sp>
        <p:nvSpPr>
          <p:cNvPr id="26" name="TextBox 25"/>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실제 테스트넷 | 개별 거래의 처리 결과를 확인</a:t>
            </a:r>
          </a:p>
        </p:txBody>
      </p:sp>
      <p:sp>
        <p:nvSpPr>
          <p:cNvPr id="27" name="Rectangle 26"/>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6446520"/>
            <a:ext cx="6440701"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30" name="TextBox 29"/>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DISCUSS</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37–40 MIN  /  3분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유효한 자격과 데이터 값의 참·거짓은 다릅니다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이번 EAS_POLICY는 bool true를 지급 조건으로 강제하지 않았습니다</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승인 표현</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승인 대상에게만</a:t>
            </a:r>
          </a:p>
          <a:p>
            <a:pPr>
              <a:defRPr sz="1800" b="0">
                <a:solidFill>
                  <a:srgbClr val="F3F6FA"/>
                </a:solidFill>
                <a:latin typeface="맑은 고딕"/>
              </a:defRPr>
            </a:pPr>
            <a:r>
              <a:t>해당 자격 증명 발급</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취소 표현</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false 발급에 의존하지 않음</a:t>
            </a:r>
          </a:p>
          <a:p>
            <a:pPr>
              <a:defRPr sz="1800" b="0">
                <a:solidFill>
                  <a:srgbClr val="F3F6FA"/>
                </a:solidFill>
                <a:latin typeface="맑은 고딕"/>
              </a:defRPr>
            </a:pPr>
            <a:r>
              <a:t>기존 자격 폐기</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추가 경계</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누가 발급할 수 있는가?</a:t>
            </a:r>
          </a:p>
          <a:p>
            <a:pPr>
              <a:defRPr sz="1800" b="0">
                <a:solidFill>
                  <a:srgbClr val="F3F6FA"/>
                </a:solidFill>
                <a:latin typeface="맑은 고딕"/>
              </a:defRPr>
            </a:pPr>
            <a:r>
              <a:t>운영 발급자 제한은 미검증</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MAROO DEVREL WORKSHOP  /  TRACK B  /  검토본 v1</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6936139"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BDABFF"/>
                </a:solidFill>
                <a:latin typeface="맑은 고딕"/>
              </a:defRPr>
            </a:pPr>
            <a:r>
              <a:t>LOCAL</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40–43 MIN  /  3분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프로그램 2 / 지급 정보의 공개 범위를 다룹니다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PCL의 실행 통제와 Privacy의 정보 보호는 다른 질문입니다</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PCL</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이 지급을 실행해도 되는가?</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Privacy</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어떤 정보를</a:t>
            </a:r>
          </a:p>
          <a:p>
            <a:pPr>
              <a:defRPr sz="1800" b="0">
                <a:solidFill>
                  <a:srgbClr val="F3F6FA"/>
                </a:solidFill>
                <a:latin typeface="맑은 고딕"/>
              </a:defRPr>
            </a:pPr>
            <a:r>
              <a:t>누구에게 공개하는가?</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이번 범위</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로컬 예치·지급·수신 확인</a:t>
            </a:r>
          </a:p>
          <a:p>
            <a:pPr>
              <a:defRPr sz="1800" b="0">
                <a:solidFill>
                  <a:srgbClr val="F3F6FA"/>
                </a:solidFill>
                <a:latin typeface="맑은 고딕"/>
              </a:defRPr>
            </a:pPr>
            <a:r>
              <a:t>감사자 복호화 미검증</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로컬 uclair | Maroo 호환성과 운영 보안은 별도 검증</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7431578" cy="16459"/>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BOUNDARY</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43–45 MIN  /  2분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Maroo와 Clairveil 결과를 분리합니다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외부 연동 대상과 독립 reference 구현</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Maroo</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실제 테스트넷 PCL·EAS</a:t>
            </a:r>
          </a:p>
          <a:p>
            <a:pPr>
              <a:defRPr sz="1800" b="0">
                <a:solidFill>
                  <a:srgbClr val="F3F6FA"/>
                </a:solidFill>
                <a:latin typeface="맑은 고딕"/>
              </a:defRPr>
            </a:pPr>
            <a:r>
              <a:t>Privacy public interface 조회</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Clairveil</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고정 SHA · 로컬 체인</a:t>
            </a:r>
          </a:p>
          <a:p>
            <a:pPr>
              <a:defRPr sz="1800" b="0">
                <a:solidFill>
                  <a:srgbClr val="F3F6FA"/>
                </a:solidFill>
                <a:latin typeface="맑은 고딕"/>
              </a:defRPr>
            </a:pPr>
            <a:r>
              <a:t>개발용 proof·uclair</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미확보 연결</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Maroo 호환 artifacts</a:t>
            </a:r>
          </a:p>
          <a:p>
            <a:pPr>
              <a:defRPr sz="1800" b="0">
                <a:solidFill>
                  <a:srgbClr val="F3F6FA"/>
                </a:solidFill>
                <a:latin typeface="맑은 고딕"/>
              </a:defRPr>
            </a:pPr>
            <a:r>
              <a:t>state·witness·serialization</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MAROO DEVREL WORKSHOP  /  TRACK B  /  검토본 v1</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7927016"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BDABFF"/>
                </a:solidFill>
                <a:latin typeface="맑은 고딕"/>
              </a:defRPr>
            </a:pPr>
            <a:r>
              <a:t>LOCAL</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45–47 MIN  /  2분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키와 공개 데이터의 경계를 먼저 확인합니다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비공개 note를 찾는 주체와 proof를 만드는 주체</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공개 표면</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거래 해시·공개 입력·이벤트</a:t>
            </a:r>
          </a:p>
          <a:p>
            <a:pPr>
              <a:defRPr sz="1800" b="0">
                <a:solidFill>
                  <a:srgbClr val="F3F6FA"/>
                </a:solidFill>
                <a:latin typeface="맑은 고딕"/>
              </a:defRPr>
            </a:pPr>
            <a:r>
              <a:t>환경별 노출 확인</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지갑·prover</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키·note·witness 취급</a:t>
            </a:r>
          </a:p>
          <a:p>
            <a:pPr>
              <a:defRPr sz="1800" b="0">
                <a:solidFill>
                  <a:srgbClr val="F3F6FA"/>
                </a:solidFill>
                <a:latin typeface="맑은 고딕"/>
              </a:defRPr>
            </a:pPr>
            <a:r>
              <a:t>원시 로그 공유 금지</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감사 주체</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별도 키와 접근 권한</a:t>
            </a:r>
          </a:p>
          <a:p>
            <a:pPr>
              <a:defRPr sz="1800" b="0">
                <a:solidFill>
                  <a:srgbClr val="F3F6FA"/>
                </a:solidFill>
                <a:latin typeface="맑은 고딕"/>
              </a:defRPr>
            </a:pPr>
            <a:r>
              <a:t>설정과 복호화 검증은 다름</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로컬 uclair | Maroo 호환성과 운영 보안은 별도 검증</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8422455" cy="16459"/>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BDABFF"/>
                </a:solidFill>
                <a:latin typeface="맑은 고딕"/>
              </a:defRPr>
            </a:pPr>
            <a:r>
              <a:t>LOCAL</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47–57 MIN  /  10분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실습 3 / 예치하고, 보내고, 수신 결과를 찾습니다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LOCAL_RUN.md · 준비된 artifacts · 새로운 run-dir</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337560"/>
            <a:ext cx="3127248" cy="731520"/>
          </a:xfrm>
          <a:prstGeom prst="rect">
            <a:avLst/>
          </a:prstGeom>
          <a:noFill/>
        </p:spPr>
        <p:txBody>
          <a:bodyPr wrap="square" lIns="0" rIns="0" tIns="0" bIns="0">
            <a:spAutoFit/>
          </a:bodyPr>
          <a:lstStyle/>
          <a:p>
            <a:pPr>
              <a:defRPr sz="4200" b="1">
                <a:solidFill>
                  <a:srgbClr val="BDABFF"/>
                </a:solidFill>
                <a:latin typeface="맑은 고딕"/>
              </a:defRPr>
            </a:pPr>
            <a:r>
              <a:t>10</a:t>
            </a:r>
          </a:p>
        </p:txBody>
      </p:sp>
      <p:sp>
        <p:nvSpPr>
          <p:cNvPr id="12" name="TextBox 11"/>
          <p:cNvSpPr txBox="1"/>
          <p:nvPr/>
        </p:nvSpPr>
        <p:spPr>
          <a:xfrm>
            <a:off x="841247" y="4160520"/>
            <a:ext cx="3127248" cy="365760"/>
          </a:xfrm>
          <a:prstGeom prst="rect">
            <a:avLst/>
          </a:prstGeom>
          <a:noFill/>
        </p:spPr>
        <p:txBody>
          <a:bodyPr wrap="square" lIns="0" rIns="0" tIns="0" bIns="0">
            <a:spAutoFit/>
          </a:bodyPr>
          <a:lstStyle/>
          <a:p>
            <a:pPr>
              <a:defRPr sz="1500" b="1">
                <a:solidFill>
                  <a:srgbClr val="BDABFF"/>
                </a:solidFill>
                <a:latin typeface="맑은 고딕"/>
              </a:defRPr>
            </a:pPr>
            <a:r>
              <a:t>DEPOSIT</a:t>
            </a:r>
          </a:p>
        </p:txBody>
      </p:sp>
      <p:sp>
        <p:nvSpPr>
          <p:cNvPr id="13" name="TextBox 12"/>
          <p:cNvSpPr txBox="1"/>
          <p:nvPr/>
        </p:nvSpPr>
        <p:spPr>
          <a:xfrm>
            <a:off x="841247" y="4617720"/>
            <a:ext cx="3127248" cy="685800"/>
          </a:xfrm>
          <a:prstGeom prst="rect">
            <a:avLst/>
          </a:prstGeom>
          <a:noFill/>
        </p:spPr>
        <p:txBody>
          <a:bodyPr wrap="square" lIns="0" rIns="0" tIns="0" bIns="0">
            <a:spAutoFit/>
          </a:bodyPr>
          <a:lstStyle/>
          <a:p>
            <a:pPr>
              <a:defRPr sz="1400" b="0">
                <a:solidFill>
                  <a:srgbClr val="F3F6FA"/>
                </a:solidFill>
                <a:latin typeface="맑은 고딕"/>
              </a:defRPr>
            </a:pPr>
            <a:r>
              <a:t>Alice 0 → 10 uclair</a:t>
            </a:r>
          </a:p>
        </p:txBody>
      </p:sp>
      <p:sp>
        <p:nvSpPr>
          <p:cNvPr id="14" name="Rectangle 13"/>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25112"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337560"/>
            <a:ext cx="3127248" cy="731520"/>
          </a:xfrm>
          <a:prstGeom prst="rect">
            <a:avLst/>
          </a:prstGeom>
          <a:noFill/>
        </p:spPr>
        <p:txBody>
          <a:bodyPr wrap="square" lIns="0" rIns="0" tIns="0" bIns="0">
            <a:spAutoFit/>
          </a:bodyPr>
          <a:lstStyle/>
          <a:p>
            <a:pPr>
              <a:defRPr sz="4200" b="1">
                <a:solidFill>
                  <a:srgbClr val="BDABFF"/>
                </a:solidFill>
                <a:latin typeface="맑은 고딕"/>
              </a:defRPr>
            </a:pPr>
            <a:r>
              <a:t>7</a:t>
            </a:r>
          </a:p>
        </p:txBody>
      </p:sp>
      <p:sp>
        <p:nvSpPr>
          <p:cNvPr id="18" name="TextBox 17"/>
          <p:cNvSpPr txBox="1"/>
          <p:nvPr/>
        </p:nvSpPr>
        <p:spPr>
          <a:xfrm>
            <a:off x="4526280" y="4160520"/>
            <a:ext cx="3127248" cy="365760"/>
          </a:xfrm>
          <a:prstGeom prst="rect">
            <a:avLst/>
          </a:prstGeom>
          <a:noFill/>
        </p:spPr>
        <p:txBody>
          <a:bodyPr wrap="square" lIns="0" rIns="0" tIns="0" bIns="0">
            <a:spAutoFit/>
          </a:bodyPr>
          <a:lstStyle/>
          <a:p>
            <a:pPr>
              <a:defRPr sz="1500" b="1">
                <a:solidFill>
                  <a:srgbClr val="BDABFF"/>
                </a:solidFill>
                <a:latin typeface="맑은 고딕"/>
              </a:defRPr>
            </a:pPr>
            <a:r>
              <a:t>TRANSFER</a:t>
            </a:r>
          </a:p>
        </p:txBody>
      </p:sp>
      <p:sp>
        <p:nvSpPr>
          <p:cNvPr id="19" name="TextBox 18"/>
          <p:cNvSpPr txBox="1"/>
          <p:nvPr/>
        </p:nvSpPr>
        <p:spPr>
          <a:xfrm>
            <a:off x="4526280" y="4617720"/>
            <a:ext cx="3127248" cy="685800"/>
          </a:xfrm>
          <a:prstGeom prst="rect">
            <a:avLst/>
          </a:prstGeom>
          <a:noFill/>
        </p:spPr>
        <p:txBody>
          <a:bodyPr wrap="square" lIns="0" rIns="0" tIns="0" bIns="0">
            <a:spAutoFit/>
          </a:bodyPr>
          <a:lstStyle/>
          <a:p>
            <a:pPr>
              <a:defRPr sz="1400" b="0">
                <a:solidFill>
                  <a:srgbClr val="F3F6FA"/>
                </a:solidFill>
                <a:latin typeface="맑은 고딕"/>
              </a:defRPr>
            </a:pPr>
            <a:r>
              <a:t>준비 self batch 후</a:t>
            </a:r>
          </a:p>
          <a:p>
            <a:pPr>
              <a:defRPr sz="1400" b="0">
                <a:solidFill>
                  <a:srgbClr val="F3F6FA"/>
                </a:solidFill>
                <a:latin typeface="맑은 고딕"/>
              </a:defRPr>
            </a:pPr>
            <a:r>
              <a:t>Bob에게 7 지급</a:t>
            </a:r>
          </a:p>
        </p:txBody>
      </p:sp>
      <p:sp>
        <p:nvSpPr>
          <p:cNvPr id="20" name="Rectangle 19"/>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11312" y="3337560"/>
            <a:ext cx="3127248" cy="731520"/>
          </a:xfrm>
          <a:prstGeom prst="rect">
            <a:avLst/>
          </a:prstGeom>
          <a:noFill/>
        </p:spPr>
        <p:txBody>
          <a:bodyPr wrap="square" lIns="0" rIns="0" tIns="0" bIns="0">
            <a:spAutoFit/>
          </a:bodyPr>
          <a:lstStyle/>
          <a:p>
            <a:pPr>
              <a:defRPr sz="4200" b="1">
                <a:solidFill>
                  <a:srgbClr val="BDABFF"/>
                </a:solidFill>
                <a:latin typeface="맑은 고딕"/>
              </a:defRPr>
            </a:pPr>
            <a:r>
              <a:t>3 + 7</a:t>
            </a:r>
          </a:p>
        </p:txBody>
      </p:sp>
      <p:sp>
        <p:nvSpPr>
          <p:cNvPr id="24" name="TextBox 23"/>
          <p:cNvSpPr txBox="1"/>
          <p:nvPr/>
        </p:nvSpPr>
        <p:spPr>
          <a:xfrm>
            <a:off x="8211312" y="4160520"/>
            <a:ext cx="3127248" cy="365760"/>
          </a:xfrm>
          <a:prstGeom prst="rect">
            <a:avLst/>
          </a:prstGeom>
          <a:noFill/>
        </p:spPr>
        <p:txBody>
          <a:bodyPr wrap="square" lIns="0" rIns="0" tIns="0" bIns="0">
            <a:spAutoFit/>
          </a:bodyPr>
          <a:lstStyle/>
          <a:p>
            <a:pPr>
              <a:defRPr sz="1500" b="1">
                <a:solidFill>
                  <a:srgbClr val="BDABFF"/>
                </a:solidFill>
                <a:latin typeface="맑은 고딕"/>
              </a:defRPr>
            </a:pPr>
            <a:r>
              <a:t>SCAN</a:t>
            </a:r>
          </a:p>
        </p:txBody>
      </p:sp>
      <p:sp>
        <p:nvSpPr>
          <p:cNvPr id="25" name="TextBox 24"/>
          <p:cNvSpPr txBox="1"/>
          <p:nvPr/>
        </p:nvSpPr>
        <p:spPr>
          <a:xfrm>
            <a:off x="8211312" y="4617720"/>
            <a:ext cx="3127248" cy="685800"/>
          </a:xfrm>
          <a:prstGeom prst="rect">
            <a:avLst/>
          </a:prstGeom>
          <a:noFill/>
        </p:spPr>
        <p:txBody>
          <a:bodyPr wrap="square" lIns="0" rIns="0" tIns="0" bIns="0">
            <a:spAutoFit/>
          </a:bodyPr>
          <a:lstStyle/>
          <a:p>
            <a:pPr>
              <a:defRPr sz="1400" b="0">
                <a:solidFill>
                  <a:srgbClr val="F3F6FA"/>
                </a:solidFill>
                <a:latin typeface="맑은 고딕"/>
              </a:defRPr>
            </a:pPr>
            <a:r>
              <a:t>Alice 3 · Bob 7</a:t>
            </a:r>
          </a:p>
          <a:p>
            <a:pPr>
              <a:defRPr sz="1400" b="0">
                <a:solidFill>
                  <a:srgbClr val="F3F6FA"/>
                </a:solidFill>
                <a:latin typeface="맑은 고딕"/>
              </a:defRPr>
            </a:pPr>
            <a:r>
              <a:t>반복 조회 결과 유지</a:t>
            </a:r>
          </a:p>
        </p:txBody>
      </p:sp>
      <p:sp>
        <p:nvSpPr>
          <p:cNvPr id="26" name="Rectangle 25"/>
          <p:cNvSpPr/>
          <p:nvPr/>
        </p:nvSpPr>
        <p:spPr>
          <a:xfrm>
            <a:off x="4023360" y="3886200"/>
            <a:ext cx="411480" cy="41148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050792" y="3867912"/>
            <a:ext cx="411480" cy="411480"/>
          </a:xfrm>
          <a:prstGeom prst="rect">
            <a:avLst/>
          </a:prstGeom>
          <a:noFill/>
        </p:spPr>
        <p:txBody>
          <a:bodyPr wrap="square" lIns="0" rIns="0" tIns="0" bIns="0">
            <a:spAutoFit/>
          </a:bodyPr>
          <a:lstStyle/>
          <a:p>
            <a:pPr>
              <a:defRPr sz="2300" b="1">
                <a:solidFill>
                  <a:srgbClr val="BDABFF"/>
                </a:solidFill>
                <a:latin typeface="맑은 고딕"/>
              </a:defRPr>
            </a:pPr>
            <a:r>
              <a:t>→</a:t>
            </a:r>
          </a:p>
        </p:txBody>
      </p:sp>
      <p:sp>
        <p:nvSpPr>
          <p:cNvPr id="28" name="Rectangle 27"/>
          <p:cNvSpPr/>
          <p:nvPr/>
        </p:nvSpPr>
        <p:spPr>
          <a:xfrm>
            <a:off x="7708392" y="3886200"/>
            <a:ext cx="411480" cy="41148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735823" y="3867912"/>
            <a:ext cx="411480" cy="411480"/>
          </a:xfrm>
          <a:prstGeom prst="rect">
            <a:avLst/>
          </a:prstGeom>
          <a:noFill/>
        </p:spPr>
        <p:txBody>
          <a:bodyPr wrap="square" lIns="0" rIns="0" tIns="0" bIns="0">
            <a:spAutoFit/>
          </a:bodyPr>
          <a:lstStyle/>
          <a:p>
            <a:pPr>
              <a:defRPr sz="2300" b="1">
                <a:solidFill>
                  <a:srgbClr val="BDABFF"/>
                </a:solidFill>
                <a:latin typeface="맑은 고딕"/>
              </a:defRPr>
            </a:pPr>
            <a:r>
              <a:t>→</a:t>
            </a:r>
          </a:p>
        </p:txBody>
      </p:sp>
      <p:sp>
        <p:nvSpPr>
          <p:cNvPr id="30" name="TextBox 29"/>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로컬 uclair | Maroo 호환성과 운영 보안은 별도 검증</a:t>
            </a:r>
          </a:p>
        </p:txBody>
      </p:sp>
      <p:sp>
        <p:nvSpPr>
          <p:cNvPr id="31" name="Rectangle 30"/>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40080" y="6446520"/>
            <a:ext cx="8917893" cy="16459"/>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34" name="TextBox 33"/>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BDABFF"/>
                </a:solidFill>
                <a:latin typeface="맑은 고딕"/>
              </a:defRPr>
            </a:pPr>
            <a:r>
              <a:t>LOCAL</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57–62 MIN  /  5분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실습 3 / 성공은 받는 사람의 상태로 판단합니다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PUBLIC_RESULT.json을 기준으로 대조합니다</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거래</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deposit · self batch · transfer</a:t>
            </a:r>
          </a:p>
          <a:p>
            <a:pPr>
              <a:defRPr sz="1800" b="0">
                <a:solidFill>
                  <a:srgbClr val="F3F6FA"/>
                </a:solidFill>
                <a:latin typeface="맑은 고딕"/>
              </a:defRPr>
            </a:pPr>
            <a:r>
              <a:t>포함 code = 0</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잔액</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Alice 10 → 3</a:t>
            </a:r>
          </a:p>
          <a:p>
            <a:pPr>
              <a:defRPr sz="1800" b="0">
                <a:solidFill>
                  <a:srgbClr val="F3F6FA"/>
                </a:solidFill>
                <a:latin typeface="맑은 고딕"/>
              </a:defRPr>
            </a:pPr>
            <a:r>
              <a:t>Bob 0 → 7</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재현</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새 초기 상태 재실행</a:t>
            </a:r>
          </a:p>
          <a:p>
            <a:pPr>
              <a:defRPr sz="1800" b="0">
                <a:solidFill>
                  <a:srgbClr val="F3F6FA"/>
                </a:solidFill>
                <a:latin typeface="맑은 고딕"/>
              </a:defRPr>
            </a:pPr>
            <a:r>
              <a:t>Bob 반복 scan 안정</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로컬 uclair | Maroo 호환성과 운영 보안은 별도 검증</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9413332" cy="16459"/>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DX</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62–65 MIN  /  3분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실패 결과도 개발자가 읽을 수 있어야 합니다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정책 오류 · 실행 실패 · 환경 문제를 구분합니다</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Explorer</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깨진 Decoded 대신</a:t>
            </a:r>
          </a:p>
          <a:p>
            <a:pPr>
              <a:defRPr sz="1800" b="0">
                <a:solidFill>
                  <a:srgbClr val="F3F6FA"/>
                </a:solidFill>
                <a:latin typeface="맑은 고딕"/>
              </a:defRPr>
            </a:pPr>
            <a:r>
              <a:t>InDenylist(address)</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자격 조회</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발급 성공 ≠ 인덱싱 완료</a:t>
            </a:r>
          </a:p>
          <a:p>
            <a:pPr>
              <a:defRPr sz="1800" b="0">
                <a:solidFill>
                  <a:srgbClr val="F3F6FA"/>
                </a:solidFill>
                <a:latin typeface="맑은 고딕"/>
              </a:defRPr>
            </a:pPr>
            <a:r>
              <a:t>count ≠ 유효성</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환경·자료</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RPC·artifact·키 오류</a:t>
            </a:r>
          </a:p>
          <a:p>
            <a:pPr>
              <a:defRPr sz="1800" b="0">
                <a:solidFill>
                  <a:srgbClr val="F3F6FA"/>
                </a:solidFill>
                <a:latin typeface="맑은 고딕"/>
              </a:defRPr>
            </a:pPr>
            <a:r>
              <a:t>정책 거절로 세지 않음</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MAROO DEVREL WORKSHOP  /  TRACK B  /  검토본 v1</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9908770"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DISCUSS</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65–68 MIN  /  3분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지금 우리가 증명한 범위는 어디까지인가?</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실행 결과와 업무 의미를 연결해 설명합니다</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Maroo</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정책이 실제 지급을</a:t>
            </a:r>
          </a:p>
          <a:p>
            <a:pPr>
              <a:defRPr sz="1800" b="0">
                <a:solidFill>
                  <a:srgbClr val="F3F6FA"/>
                </a:solidFill>
                <a:latin typeface="맑은 고딕"/>
              </a:defRPr>
            </a:pPr>
            <a:r>
              <a:t>허용·차단했다</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FFBD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FFBD69"/>
                </a:solidFill>
                <a:latin typeface="맑은 고딕"/>
              </a:defRPr>
            </a:pPr>
            <a:r>
              <a:t>Local</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비공개 note 지급 후</a:t>
            </a:r>
          </a:p>
          <a:p>
            <a:pPr>
              <a:defRPr sz="1800" b="0">
                <a:solidFill>
                  <a:srgbClr val="F3F6FA"/>
                </a:solidFill>
                <a:latin typeface="맑은 고딕"/>
              </a:defRPr>
            </a:pPr>
            <a:r>
              <a:t>수취인이 결과를 확인했다</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BDAB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BDABFF"/>
                </a:solidFill>
                <a:latin typeface="맑은 고딕"/>
              </a:defRPr>
            </a:pPr>
            <a:r>
              <a:t>미검증</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실제 KYB·발급자 제한</a:t>
            </a:r>
          </a:p>
          <a:p>
            <a:pPr>
              <a:defRPr sz="1800" b="0">
                <a:solidFill>
                  <a:srgbClr val="F3F6FA"/>
                </a:solidFill>
                <a:latin typeface="맑은 고딕"/>
              </a:defRPr>
            </a:pPr>
            <a:r>
              <a:t>Maroo Privacy·감사 복호화</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MAROO DEVREL WORKSHOP  /  TRACK B  /  검토본 v1</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10404209"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1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457200"/>
            <a:ext cx="64008" cy="256032"/>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429768"/>
            <a:ext cx="7315200" cy="274320"/>
          </a:xfrm>
          <a:prstGeom prst="rect">
            <a:avLst/>
          </a:prstGeom>
          <a:noFill/>
        </p:spPr>
        <p:txBody>
          <a:bodyPr wrap="square" lIns="0" rIns="0" tIns="0" bIns="0">
            <a:spAutoFit/>
          </a:bodyPr>
          <a:lstStyle/>
          <a:p>
            <a:pPr>
              <a:defRPr sz="1200" b="1">
                <a:solidFill>
                  <a:srgbClr val="58D6BD"/>
                </a:solidFill>
                <a:latin typeface="맑은 고딕"/>
              </a:defRPr>
            </a:pPr>
            <a:r>
              <a:t>CHECKOUT</a:t>
            </a:r>
          </a:p>
        </p:txBody>
      </p:sp>
      <p:sp>
        <p:nvSpPr>
          <p:cNvPr id="5" name="TextBox 4"/>
          <p:cNvSpPr txBox="1"/>
          <p:nvPr/>
        </p:nvSpPr>
        <p:spPr>
          <a:xfrm>
            <a:off x="9235440" y="429768"/>
            <a:ext cx="2468880" cy="274320"/>
          </a:xfrm>
          <a:prstGeom prst="rect">
            <a:avLst/>
          </a:prstGeom>
          <a:noFill/>
        </p:spPr>
        <p:txBody>
          <a:bodyPr wrap="square" lIns="0" rIns="0" tIns="0" bIns="0">
            <a:spAutoFit/>
          </a:bodyPr>
          <a:lstStyle/>
          <a:p>
            <a:pPr>
              <a:defRPr sz="1200" b="0">
                <a:solidFill>
                  <a:srgbClr val="A9BAD0"/>
                </a:solidFill>
                <a:latin typeface="맑은 고딕"/>
              </a:defRPr>
            </a:pPr>
            <a:r>
              <a:t>68–70 MIN  /  2분</a:t>
            </a:r>
          </a:p>
        </p:txBody>
      </p:sp>
      <p:sp>
        <p:nvSpPr>
          <p:cNvPr id="6" name="TextBox 5"/>
          <p:cNvSpPr txBox="1"/>
          <p:nvPr/>
        </p:nvSpPr>
        <p:spPr>
          <a:xfrm>
            <a:off x="640080" y="1033271"/>
            <a:ext cx="10927080" cy="1051560"/>
          </a:xfrm>
          <a:prstGeom prst="rect">
            <a:avLst/>
          </a:prstGeom>
          <a:noFill/>
        </p:spPr>
        <p:txBody>
          <a:bodyPr wrap="square" lIns="0" rIns="0" tIns="0" bIns="0">
            <a:spAutoFit/>
          </a:bodyPr>
          <a:lstStyle/>
          <a:p>
            <a:pPr>
              <a:defRPr sz="3200" b="1">
                <a:solidFill>
                  <a:srgbClr val="F3F6FA"/>
                </a:solidFill>
                <a:latin typeface="맑은 고딕"/>
              </a:defRPr>
            </a:pPr>
            <a:r>
              <a:t>내 실행 증거를 남깁니다</a:t>
            </a:r>
          </a:p>
        </p:txBody>
      </p:sp>
      <p:sp>
        <p:nvSpPr>
          <p:cNvPr id="7" name="TextBox 6"/>
          <p:cNvSpPr txBox="1"/>
          <p:nvPr/>
        </p:nvSpPr>
        <p:spPr>
          <a:xfrm>
            <a:off x="667512" y="2240280"/>
            <a:ext cx="10881360" cy="548640"/>
          </a:xfrm>
          <a:prstGeom prst="rect">
            <a:avLst/>
          </a:prstGeom>
          <a:noFill/>
        </p:spPr>
        <p:txBody>
          <a:bodyPr wrap="square" lIns="0" rIns="0" tIns="0" bIns="0">
            <a:spAutoFit/>
          </a:bodyPr>
          <a:lstStyle/>
          <a:p>
            <a:pPr>
              <a:defRPr sz="1900" b="0">
                <a:solidFill>
                  <a:srgbClr val="A9BAD0"/>
                </a:solidFill>
                <a:latin typeface="맑은 고딕"/>
              </a:defRPr>
            </a:pPr>
            <a:r>
              <a:t>성공 / 실패 / 미시도 / 기존 증거 분석</a:t>
            </a:r>
          </a:p>
        </p:txBody>
      </p:sp>
      <p:sp>
        <p:nvSpPr>
          <p:cNvPr id="8" name="Rectangle 7"/>
          <p:cNvSpPr/>
          <p:nvPr/>
        </p:nvSpPr>
        <p:spPr>
          <a:xfrm>
            <a:off x="640080"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41247"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남길 것</a:t>
            </a:r>
          </a:p>
        </p:txBody>
      </p:sp>
      <p:sp>
        <p:nvSpPr>
          <p:cNvPr id="12" name="TextBox 11"/>
          <p:cNvSpPr txBox="1"/>
          <p:nvPr/>
        </p:nvSpPr>
        <p:spPr>
          <a:xfrm>
            <a:off x="841247"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환경·입력·해시·영수증</a:t>
            </a:r>
          </a:p>
          <a:p>
            <a:pPr>
              <a:defRPr sz="1800" b="0">
                <a:solidFill>
                  <a:srgbClr val="F3F6FA"/>
                </a:solidFill>
                <a:latin typeface="맑은 고딕"/>
              </a:defRPr>
            </a:pPr>
            <a:r>
              <a:t>전후 상태·오류</a:t>
            </a:r>
          </a:p>
        </p:txBody>
      </p:sp>
      <p:sp>
        <p:nvSpPr>
          <p:cNvPr id="13" name="Rectangle 12"/>
          <p:cNvSpPr/>
          <p:nvPr/>
        </p:nvSpPr>
        <p:spPr>
          <a:xfrm>
            <a:off x="4325112"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25112"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26280"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보호할 것</a:t>
            </a:r>
          </a:p>
        </p:txBody>
      </p:sp>
      <p:sp>
        <p:nvSpPr>
          <p:cNvPr id="17" name="TextBox 16"/>
          <p:cNvSpPr txBox="1"/>
          <p:nvPr/>
        </p:nvSpPr>
        <p:spPr>
          <a:xfrm>
            <a:off x="4526280"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개인키 · 원시 note</a:t>
            </a:r>
          </a:p>
          <a:p>
            <a:pPr>
              <a:defRPr sz="1800" b="0">
                <a:solidFill>
                  <a:srgbClr val="F3F6FA"/>
                </a:solidFill>
                <a:latin typeface="맑은 고딕"/>
              </a:defRPr>
            </a:pPr>
            <a:r>
              <a:t>인증·개인정보</a:t>
            </a:r>
          </a:p>
        </p:txBody>
      </p:sp>
      <p:sp>
        <p:nvSpPr>
          <p:cNvPr id="18" name="Rectangle 17"/>
          <p:cNvSpPr/>
          <p:nvPr/>
        </p:nvSpPr>
        <p:spPr>
          <a:xfrm>
            <a:off x="8010144" y="3182112"/>
            <a:ext cx="3529584" cy="2194560"/>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10144" y="3182112"/>
            <a:ext cx="3529584" cy="32004"/>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11312" y="3438144"/>
            <a:ext cx="3127248" cy="457200"/>
          </a:xfrm>
          <a:prstGeom prst="rect">
            <a:avLst/>
          </a:prstGeom>
          <a:noFill/>
        </p:spPr>
        <p:txBody>
          <a:bodyPr wrap="square" lIns="0" rIns="0" tIns="0" bIns="0">
            <a:spAutoFit/>
          </a:bodyPr>
          <a:lstStyle/>
          <a:p>
            <a:pPr>
              <a:defRPr sz="1700" b="1">
                <a:solidFill>
                  <a:srgbClr val="58D6BD"/>
                </a:solidFill>
                <a:latin typeface="맑은 고딕"/>
              </a:defRPr>
            </a:pPr>
            <a:r>
              <a:t>다시 볼 곳</a:t>
            </a:r>
          </a:p>
        </p:txBody>
      </p:sp>
      <p:sp>
        <p:nvSpPr>
          <p:cNvPr id="22" name="TextBox 21"/>
          <p:cNvSpPr txBox="1"/>
          <p:nvPr/>
        </p:nvSpPr>
        <p:spPr>
          <a:xfrm>
            <a:off x="8211312" y="4096512"/>
            <a:ext cx="3127248" cy="1078992"/>
          </a:xfrm>
          <a:prstGeom prst="rect">
            <a:avLst/>
          </a:prstGeom>
          <a:noFill/>
        </p:spPr>
        <p:txBody>
          <a:bodyPr wrap="square" lIns="0" rIns="0" tIns="0" bIns="0">
            <a:spAutoFit/>
          </a:bodyPr>
          <a:lstStyle/>
          <a:p>
            <a:pPr>
              <a:defRPr sz="1800" b="0">
                <a:solidFill>
                  <a:srgbClr val="F3F6FA"/>
                </a:solidFill>
                <a:latin typeface="맑은 고딕"/>
              </a:defRPr>
            </a:pPr>
            <a:r>
              <a:t>README · 참가자 가이드</a:t>
            </a:r>
          </a:p>
          <a:p>
            <a:pPr>
              <a:defRPr sz="1800" b="0">
                <a:solidFill>
                  <a:srgbClr val="F3F6FA"/>
                </a:solidFill>
                <a:latin typeface="맑은 고딕"/>
              </a:defRPr>
            </a:pPr>
            <a:r>
              <a:t>증거 색인 · 문제 해결</a:t>
            </a:r>
          </a:p>
        </p:txBody>
      </p:sp>
      <p:sp>
        <p:nvSpPr>
          <p:cNvPr id="23" name="TextBox 22"/>
          <p:cNvSpPr txBox="1"/>
          <p:nvPr/>
        </p:nvSpPr>
        <p:spPr>
          <a:xfrm>
            <a:off x="667512" y="5806440"/>
            <a:ext cx="10789920" cy="457200"/>
          </a:xfrm>
          <a:prstGeom prst="rect">
            <a:avLst/>
          </a:prstGeom>
          <a:noFill/>
        </p:spPr>
        <p:txBody>
          <a:bodyPr wrap="square" lIns="0" rIns="0" tIns="0" bIns="0">
            <a:spAutoFit/>
          </a:bodyPr>
          <a:lstStyle/>
          <a:p>
            <a:pPr>
              <a:defRPr sz="1200" b="0">
                <a:solidFill>
                  <a:srgbClr val="A9BAD0"/>
                </a:solidFill>
                <a:latin typeface="맑은 고딕"/>
              </a:defRPr>
            </a:pPr>
            <a:r>
              <a:t>MAROO DEVREL WORKSHOP  /  TRACK B  /  검토본 v1</a:t>
            </a:r>
          </a:p>
        </p:txBody>
      </p:sp>
      <p:sp>
        <p:nvSpPr>
          <p:cNvPr id="24" name="Rectangle 23"/>
          <p:cNvSpPr/>
          <p:nvPr/>
        </p:nvSpPr>
        <p:spPr>
          <a:xfrm>
            <a:off x="640080" y="6446520"/>
            <a:ext cx="10899648" cy="16459"/>
          </a:xfrm>
          <a:prstGeom prst="rect">
            <a:avLst/>
          </a:prstGeom>
          <a:solidFill>
            <a:srgbClr val="1A2A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40080" y="6446520"/>
            <a:ext cx="10899648" cy="16459"/>
          </a:xfrm>
          <a:prstGeom prst="rect">
            <a:avLst/>
          </a:prstGeom>
          <a:solidFill>
            <a:srgbClr val="58D6B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6537960"/>
            <a:ext cx="9144000" cy="182880"/>
          </a:xfrm>
          <a:prstGeom prst="rect">
            <a:avLst/>
          </a:prstGeom>
          <a:noFill/>
        </p:spPr>
        <p:txBody>
          <a:bodyPr wrap="square" lIns="0" rIns="0" tIns="0" bIns="0">
            <a:spAutoFit/>
          </a:bodyPr>
          <a:lstStyle/>
          <a:p>
            <a:pPr>
              <a:defRPr sz="900" b="0">
                <a:solidFill>
                  <a:srgbClr val="A9BAD0"/>
                </a:solidFill>
                <a:latin typeface="맑은 고딕"/>
              </a:defRPr>
            </a:pPr>
            <a:r>
              <a:t>nubro999 / maroo-devrel-workshop</a:t>
            </a:r>
          </a:p>
        </p:txBody>
      </p:sp>
      <p:sp>
        <p:nvSpPr>
          <p:cNvPr id="27" name="TextBox 26"/>
          <p:cNvSpPr txBox="1"/>
          <p:nvPr/>
        </p:nvSpPr>
        <p:spPr>
          <a:xfrm>
            <a:off x="10698480" y="6510528"/>
            <a:ext cx="914400" cy="228600"/>
          </a:xfrm>
          <a:prstGeom prst="rect">
            <a:avLst/>
          </a:prstGeom>
          <a:noFill/>
        </p:spPr>
        <p:txBody>
          <a:bodyPr wrap="square" lIns="0" rIns="0" tIns="0" bIns="0">
            <a:spAutoFit/>
          </a:bodyPr>
          <a:lstStyle/>
          <a:p>
            <a:pPr>
              <a:defRPr sz="1000" b="0">
                <a:solidFill>
                  <a:srgbClr val="A9BAD0"/>
                </a:solidFill>
                <a:latin typeface="맑은 고딕"/>
              </a:defRPr>
            </a:pPr>
            <a:r>
              <a:t>22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