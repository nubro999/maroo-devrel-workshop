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00–03분</a:t>
            </a:r>
          </a:p>
          <a:p>
            <a:r>
              <a:t>은행 내부 통제는 이미 존재합니다. 이번 문제는 지급을 온체인으로 확장했을 때 승인 조건이 실제 실행까지 이어지는가입니다. 내부 지급만 필요하다면 Maroo가 반드시 필요하다고 주장하지 않습니다. PCL의 지급 통제와 Privacy의 공개 범위를 두 실습으로 확인합니다. 설치와 회로 생성은 수업 전 완료합니다.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03–08분</a:t>
            </a:r>
          </a:p>
          <a:p>
            <a:r>
              <a:t>위 행은 승인 정보를 자격으로 표현하는 경로, 아래 행은 지급 실행 경로입니다. EAS는 심사 자체를 하지 않습니다. 발급자는 증명 발급·폐기를 담당하고 프록시 관리자는 서비스 정책을 설정합니다. 실습은 동일 계정이 역할을 겸하는 자체 발급 데모입니다. 실제 KYB와 신뢰할 발급자 제한은 구현하지 않았습니다. 은행 API와 원장 연동은 설계 맥락이며 실습 코드의 구현 범위가 아닙니다.</a:t>
            </a:r>
          </a:p>
          <a:p>
            <a:r>
              <a:t>출처: https://docs.maroo.io/guides/integration/tutorial-using-eas-on-maroo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08–12분</a:t>
            </a:r>
          </a:p>
          <a:p>
            <a:r>
              <a:t>이 그림은 역할을 보여주는 개념도이며 전체 노드 구현 다이어그램은 아닙니다. 앱은 익숙한 EVM RPC로 요청하고, EVM 실행에서 프리컴파일 인터페이스를 통해 체인 기능에 접근합니다. 프리컴파일은 체인 구현에 포함된 기능이며 정책 설정 자체가 매번 컴파일된다는 뜻은 아닙니다. 정책 관리자는 권한 범위 안에서 정책 설정을 바꿉니다. Privacy가 같은 인터페이스 표면에 있다는 사실이 이번 Maroo 비공개 지급 성공을 의미하지는 않습니다.</a:t>
            </a:r>
          </a:p>
          <a:p>
            <a:r>
              <a:t>출처: https://docs.maroo.io/concepts/compliance/pcl-dual-track-model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12–15분</a:t>
            </a:r>
          </a:p>
          <a:p>
            <a:r>
              <a:t>사용자가 preCall과 postCall을 따로 보내는 것이 아닙니다. 프록시 주소에 지급 ABI로 호출하면 프록시가 순서대로 감쌉니다. 구현체를 직접 호출하는 개방 트랙에는 같은 컨트랙트 범위 정책이 적용되지 않습니다. 실습 구현체는 별도로 proxy-only와 owner 검사를 둡니다. PCL 프록시 관리자와 전역 정책 관리자는 같은 범위가 아닙니다.</a:t>
            </a:r>
          </a:p>
          <a:p>
            <a:r>
              <a:t>출처: https://docs.maroo.io/concepts/compliance/pcl-dual-track-model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15–34분</a:t>
            </a:r>
          </a:p>
          <a:p>
            <a:r>
              <a:t>15–22분: 사이트 환경 준비와 lab:pcl을 따라 전용 프록시를 배포하고 정상 지급·Denylist 차단을 비교합니다. 22–34분: lab:eas로 자격 없음, 발급·인덱싱, 폐기 후 지급을 비교합니다. attest 직후 indexed=false였기 때문에 별도 indexAttestation이 필요했습니다. 포함 영수증, PolicyCheckPassed, 수신자 잔액, paymentCount를 확인합니다. RPC 오류나 자금 부족을 정책 거절로 기록하지 않습니다. 3분 이상 환경 장애가 계속되면 저장된 증거 분석으로 전환하고 직접 실행과 구분합니다. 실험 후 정책 복원·증명 폐기를 확인합니다.</a:t>
            </a:r>
          </a:p>
          <a:p>
            <a:r>
              <a:t>출처: https://github.com/nubro999/maroo-devrel-workshop/blob/main/docs/EVIDENCE_INDEX.md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34–40분</a:t>
            </a:r>
          </a:p>
          <a:p>
            <a:r>
              <a:t>새 스키마에서 같은 만료·부가 데이터·금액·계정으로 비교하고 EAS에 저장된 값을 다시 읽었습니다. false를 폐기한 뒤 true를 발급하여 동시에 유효하지 않게 했습니다. 두 지급 모두 성공했습니다. 이 설정에서 false 발급만으로 지급을 막는 설계는 작동하지 않습니다. 다른 정책·resolver까지 일반화하거나 제품 버그라고 단정하지 않습니다. 신뢰할 발급자 제한은 별도 미검증입니다. 선택 실험 lab:boolean은 웹사이트에서 실행할 수 있습니다.</a:t>
            </a:r>
          </a:p>
          <a:p>
            <a:r>
              <a:t>출처: https://github.com/nubro999/maroo-devrel-workshop/blob/main/evidence/live-testnet/EAS_BOOLEAN_VERIFIED.json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40–47분</a:t>
            </a:r>
          </a:p>
          <a:p>
            <a:r>
              <a:t>PCL은 실행해도 되는가를, Privacy는 무엇을 누구에게 공개하는가를 다룹니다. 여기서는 고정 SHA의 로컬 Clairveil과 개발 artifacts를 사용합니다. Alice의 지갑·prover는 키·note·witness 같은 비밀 자료를 취급하고 체인은 proof를 검증합니다. 수신 지갑은 자신의 note를 찾습니다. 그림은 감사자 경로를 생략한 실습 개념도이며 감사자 복호화는 검증하지 않았습니다. 공개 예치나 모든 거래 메타데이터가 숨겨진다고 설명하지 않습니다. Maroo 호환 proving artifacts·조회·serialization을 확보하지 못해 두 환경은 연결하지 않았습니다.</a:t>
            </a:r>
          </a:p>
          <a:p>
            <a:r>
              <a:t>출처: https://docs.maroo.io/concepts/privacy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47–62분</a:t>
            </a:r>
          </a:p>
          <a:p>
            <a:r>
              <a:t>47–57분: 사전에 준비한 고정 소스와 artifacts를 이용해 새 로컬 상태에서 실행합니다. 첫 컴파일과 회로 생성은 이 시간에 포함하지 않습니다. 사이트의 사전 준비 명령은 수업 전에 완료해야 합니다. 57–62분: PUBLIC_RESULT를 대조합니다. 예치·준비 self batch·최종 이체 모두 포함 code 0, Alice 3/Bob 7, 반복 scan 결과 안정이 기준입니다. 기존 독립 재현은 새 계정·genesis를 사용했지만 빌드·artifacts 캐시는 재사용했습니다. 원시 지갑 키와 note는 공개하지 않습니다. wrapper가 시작한 노드가 종료됐는지도 확인합니다.</a:t>
            </a:r>
          </a:p>
          <a:p>
            <a:r>
              <a:t>출처: https://github.com/nubro999/maroo-devrel-workshop/blob/main/demo/clairveil/LOCAL_RUN.md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62–68분</a:t>
            </a:r>
          </a:p>
          <a:p>
            <a:r>
              <a:t>실패 거래의 raw를 공식 ABI로 해석하면 InDenylist와 주소를 확인할 수 있습니다. Explorer의 깨진 문자열만으로 원인을 판단하지 않습니다. 내부 UI 변환 구현은 확인하지 않았습니다. 자격 개수만으로 유효성을 판단하지 않습니다. 참가자는 직접 실행과 저장 증거 분석을 구분하고 결과를 기록합니다. 실제 KYB·신뢰할 발급자 제한·Maroo Privacy·감사자 복호화는 완료 범위에 포함하지 않습니다. 별도 PoC 로드맵 강의는 하지 않습니다.</a:t>
            </a:r>
          </a:p>
          <a:p>
            <a:r>
              <a:t>출처: https://github.com/nubro999/maroo-devrel-workshop/blob/main/workshop/TROUBLESHOOTING.md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68–70분</a:t>
            </a:r>
          </a:p>
          <a:p>
            <a:r>
              <a:t>체험 사이트는 앞서 사용자가 진행한 경로에서 실제 공개 지갑·거래 링크가 없는 시뮬레이션이었습니다. 실제 EAS 발급용으로 안내하지 않습니다. 실습 사이트에는 Faucet·네트워크·인덱서·고정 Clairveil 소스까지 링크를 모았습니다. 마지막으로 본인의 실험 기록과 정책 복원·증명 폐기·노드 종료 상태를 확인합니다.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cs.maroo.io/guides/integration/tutorial-using-eas-on-maroo" TargetMode="Externa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cs.maroo.io/concepts/compliance/pcl-dual-track-model" TargetMode="Externa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cs.maroo.io/concepts/compliance/pcl-dual-track-model" TargetMode="Externa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maroo-workshop-cheatsheet.zcb167.chatgpt.site#pcl" TargetMode="External"/><Relationship Id="rId3" Type="http://schemas.openxmlformats.org/officeDocument/2006/relationships/hyperlink" Target="https://github.com/nubro999/maroo-devrel-workshop/blob/main/docs/EVIDENCE_INDEX.md" TargetMode="Externa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nubro999/maroo-devrel-workshop/blob/main/evidence/live-testnet/EAS_BOOLEAN_VERIFIED.json" TargetMode="Externa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cs.maroo.io/concepts/privacy" TargetMode="Externa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maroo-workshop-cheatsheet.zcb167.chatgpt.site#privacy" TargetMode="External"/><Relationship Id="rId3" Type="http://schemas.openxmlformats.org/officeDocument/2006/relationships/hyperlink" Target="https://github.com/nubro999/maroo-devrel-workshop/blob/main/demo/clairveil/LOCAL_RUN.md" TargetMode="Externa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nubro999/maroo-devrel-workshop/blob/main/workshop/TROUBLESHOOTING.md" TargetMode="Externa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maroo-workshop-cheatsheet.zcb167.chatgpt.site" TargetMode="External"/><Relationship Id="rId3" Type="http://schemas.openxmlformats.org/officeDocument/2006/relationships/hyperlink" Target="https://experience.maroo.io/ko" TargetMode="External"/><Relationship Id="rId4" Type="http://schemas.openxmlformats.org/officeDocument/2006/relationships/hyperlink" Target="https://docs.maroo.io/concepts/compliance/pcl-dual-track-model" TargetMode="External"/><Relationship Id="rId5" Type="http://schemas.openxmlformats.org/officeDocument/2006/relationships/hyperlink" Target="https://docs.maroo.io/guides/integration/tutorial-using-eas-on-maroo" TargetMode="External"/><Relationship Id="rId6" Type="http://schemas.openxmlformats.org/officeDocument/2006/relationships/hyperlink" Target="https://maroo-workshop-cheatsheet.zcb167.chatgpt.site#references" TargetMode="External"/><Relationship Id="rId7" Type="http://schemas.openxmlformats.org/officeDocument/2006/relationships/hyperlink" Target="https://explorer-testnet.maroo.io" TargetMode="External"/><Relationship Id="rId8"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8229600" cy="274320"/>
          </a:xfrm>
          <a:prstGeom prst="rect">
            <a:avLst/>
          </a:prstGeom>
          <a:noFill/>
        </p:spPr>
        <p:txBody>
          <a:bodyPr wrap="square" lIns="0" rIns="0" tIns="0" bIns="0">
            <a:spAutoFit/>
          </a:bodyPr>
          <a:lstStyle/>
          <a:p>
            <a:pPr>
              <a:defRPr sz="1200" b="1">
                <a:solidFill>
                  <a:srgbClr val="58D6BD"/>
                </a:solidFill>
                <a:latin typeface="맑은 고딕"/>
              </a:defRPr>
            </a:pPr>
            <a:r>
              <a:t>PURPOSE</a:t>
            </a:r>
          </a:p>
        </p:txBody>
      </p:sp>
      <p:sp>
        <p:nvSpPr>
          <p:cNvPr id="4" name="TextBox 3"/>
          <p:cNvSpPr txBox="1"/>
          <p:nvPr/>
        </p:nvSpPr>
        <p:spPr>
          <a:xfrm>
            <a:off x="9784080" y="411480"/>
            <a:ext cx="1828800" cy="274320"/>
          </a:xfrm>
          <a:prstGeom prst="rect">
            <a:avLst/>
          </a:prstGeom>
          <a:noFill/>
        </p:spPr>
        <p:txBody>
          <a:bodyPr wrap="square" lIns="0" rIns="0" tIns="0" bIns="0">
            <a:spAutoFit/>
          </a:bodyPr>
          <a:lstStyle/>
          <a:p>
            <a:pPr>
              <a:defRPr sz="1200" b="0">
                <a:solidFill>
                  <a:srgbClr val="A9BAD0"/>
                </a:solidFill>
                <a:latin typeface="맑은 고딕"/>
              </a:defRPr>
            </a:pPr>
            <a:r>
              <a:t>00–03 MIN</a:t>
            </a:r>
          </a:p>
        </p:txBody>
      </p:sp>
      <p:sp>
        <p:nvSpPr>
          <p:cNvPr id="5" name="TextBox 4"/>
          <p:cNvSpPr txBox="1"/>
          <p:nvPr/>
        </p:nvSpPr>
        <p:spPr>
          <a:xfrm>
            <a:off x="640080" y="932688"/>
            <a:ext cx="10927080" cy="1005840"/>
          </a:xfrm>
          <a:prstGeom prst="rect">
            <a:avLst/>
          </a:prstGeom>
          <a:noFill/>
        </p:spPr>
        <p:txBody>
          <a:bodyPr wrap="square" lIns="0" rIns="0" tIns="0" bIns="0">
            <a:spAutoFit/>
          </a:bodyPr>
          <a:lstStyle/>
          <a:p>
            <a:pPr>
              <a:defRPr sz="3000" b="1">
                <a:solidFill>
                  <a:srgbClr val="F3F6FA"/>
                </a:solidFill>
                <a:latin typeface="맑은 고딕"/>
              </a:defRPr>
            </a:pPr>
            <a:r>
              <a:t>은행의 승인 조건을 실제 지급까지</a:t>
            </a:r>
          </a:p>
        </p:txBody>
      </p:sp>
      <p:sp>
        <p:nvSpPr>
          <p:cNvPr id="6" name="TextBox 5"/>
          <p:cNvSpPr txBox="1"/>
          <p:nvPr/>
        </p:nvSpPr>
        <p:spPr>
          <a:xfrm>
            <a:off x="658368" y="1938528"/>
            <a:ext cx="10881360" cy="548640"/>
          </a:xfrm>
          <a:prstGeom prst="rect">
            <a:avLst/>
          </a:prstGeom>
          <a:noFill/>
        </p:spPr>
        <p:txBody>
          <a:bodyPr wrap="square" lIns="0" rIns="0" tIns="0" bIns="0">
            <a:spAutoFit/>
          </a:bodyPr>
          <a:lstStyle/>
          <a:p>
            <a:pPr>
              <a:defRPr sz="1800" b="0">
                <a:solidFill>
                  <a:srgbClr val="A9BAD0"/>
                </a:solidFill>
                <a:latin typeface="맑은 고딕"/>
              </a:defRPr>
            </a:pPr>
            <a:r>
              <a:t>대상: 온체인 기업 지급을 만드는 은행·핀테크 엔지니어</a:t>
            </a:r>
          </a:p>
        </p:txBody>
      </p:sp>
      <p:sp>
        <p:nvSpPr>
          <p:cNvPr id="7" name="Rectangle 6"/>
          <p:cNvSpPr/>
          <p:nvPr/>
        </p:nvSpPr>
        <p:spPr>
          <a:xfrm>
            <a:off x="640080" y="2743200"/>
            <a:ext cx="3511296" cy="2011680"/>
          </a:xfrm>
          <a:prstGeom prst="rect">
            <a:avLst/>
          </a:prstGeom>
          <a:solidFill>
            <a:srgbClr val="1A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2743200"/>
            <a:ext cx="32004" cy="2011680"/>
          </a:xfrm>
          <a:prstGeom prst="rect">
            <a:avLst/>
          </a:prstGeom>
          <a:solidFill>
            <a:srgbClr val="58D6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1" y="2880360"/>
            <a:ext cx="3182112" cy="411480"/>
          </a:xfrm>
          <a:prstGeom prst="rect">
            <a:avLst/>
          </a:prstGeom>
          <a:noFill/>
        </p:spPr>
        <p:txBody>
          <a:bodyPr wrap="square" lIns="0" rIns="0" tIns="0" bIns="0">
            <a:spAutoFit/>
          </a:bodyPr>
          <a:lstStyle/>
          <a:p>
            <a:pPr>
              <a:defRPr sz="1800" b="1">
                <a:solidFill>
                  <a:srgbClr val="58D6BD"/>
                </a:solidFill>
                <a:latin typeface="맑은 고딕"/>
              </a:defRPr>
            </a:pPr>
            <a:r>
              <a:t>업무 문제</a:t>
            </a:r>
          </a:p>
        </p:txBody>
      </p:sp>
      <p:sp>
        <p:nvSpPr>
          <p:cNvPr id="10" name="TextBox 9"/>
          <p:cNvSpPr txBox="1"/>
          <p:nvPr/>
        </p:nvSpPr>
        <p:spPr>
          <a:xfrm>
            <a:off x="804671" y="3383280"/>
            <a:ext cx="3182112" cy="1344168"/>
          </a:xfrm>
          <a:prstGeom prst="rect">
            <a:avLst/>
          </a:prstGeom>
          <a:noFill/>
        </p:spPr>
        <p:txBody>
          <a:bodyPr wrap="square" lIns="0" rIns="0" tIns="0" bIns="0">
            <a:spAutoFit/>
          </a:bodyPr>
          <a:lstStyle/>
          <a:p>
            <a:pPr>
              <a:defRPr sz="1500" b="0">
                <a:solidFill>
                  <a:srgbClr val="F3F6FA"/>
                </a:solidFill>
                <a:latin typeface="맑은 고딕"/>
              </a:defRPr>
            </a:pPr>
            <a:r>
              <a:t>은행의 심사·승인 결과를</a:t>
            </a:r>
          </a:p>
          <a:p>
            <a:pPr>
              <a:defRPr sz="1500" b="0">
                <a:solidFill>
                  <a:srgbClr val="F3F6FA"/>
                </a:solidFill>
                <a:latin typeface="맑은 고딕"/>
              </a:defRPr>
            </a:pPr>
            <a:r>
              <a:t>온체인 지급에도 적용</a:t>
            </a:r>
          </a:p>
        </p:txBody>
      </p:sp>
      <p:sp>
        <p:nvSpPr>
          <p:cNvPr id="11" name="Rectangle 10"/>
          <p:cNvSpPr/>
          <p:nvPr/>
        </p:nvSpPr>
        <p:spPr>
          <a:xfrm>
            <a:off x="4334256" y="2743200"/>
            <a:ext cx="3511296" cy="2011680"/>
          </a:xfrm>
          <a:prstGeom prst="rect">
            <a:avLst/>
          </a:prstGeom>
          <a:solidFill>
            <a:srgbClr val="1A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4256" y="2743200"/>
            <a:ext cx="32004" cy="2011680"/>
          </a:xfrm>
          <a:prstGeom prst="rect">
            <a:avLst/>
          </a:prstGeom>
          <a:solidFill>
            <a:srgbClr val="FFBD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98848" y="2880360"/>
            <a:ext cx="3182112" cy="411480"/>
          </a:xfrm>
          <a:prstGeom prst="rect">
            <a:avLst/>
          </a:prstGeom>
          <a:noFill/>
        </p:spPr>
        <p:txBody>
          <a:bodyPr wrap="square" lIns="0" rIns="0" tIns="0" bIns="0">
            <a:spAutoFit/>
          </a:bodyPr>
          <a:lstStyle/>
          <a:p>
            <a:pPr>
              <a:defRPr sz="1800" b="1">
                <a:solidFill>
                  <a:srgbClr val="FFBD69"/>
                </a:solidFill>
                <a:latin typeface="맑은 고딕"/>
              </a:defRPr>
            </a:pPr>
            <a:r>
              <a:t>프로그램 1 / Maroo</a:t>
            </a:r>
          </a:p>
        </p:txBody>
      </p:sp>
      <p:sp>
        <p:nvSpPr>
          <p:cNvPr id="14" name="TextBox 13"/>
          <p:cNvSpPr txBox="1"/>
          <p:nvPr/>
        </p:nvSpPr>
        <p:spPr>
          <a:xfrm>
            <a:off x="4498848" y="3383280"/>
            <a:ext cx="3182112" cy="1344168"/>
          </a:xfrm>
          <a:prstGeom prst="rect">
            <a:avLst/>
          </a:prstGeom>
          <a:noFill/>
        </p:spPr>
        <p:txBody>
          <a:bodyPr wrap="square" lIns="0" rIns="0" tIns="0" bIns="0">
            <a:spAutoFit/>
          </a:bodyPr>
          <a:lstStyle/>
          <a:p>
            <a:pPr>
              <a:defRPr sz="1500" b="0">
                <a:solidFill>
                  <a:srgbClr val="F3F6FA"/>
                </a:solidFill>
                <a:latin typeface="맑은 고딕"/>
              </a:defRPr>
            </a:pPr>
            <a:r>
              <a:t>PCL · EAS · tOKRW</a:t>
            </a:r>
          </a:p>
          <a:p>
            <a:pPr>
              <a:defRPr sz="1500" b="0">
                <a:solidFill>
                  <a:srgbClr val="F3F6FA"/>
                </a:solidFill>
                <a:latin typeface="맑은 고딕"/>
              </a:defRPr>
            </a:pPr>
            <a:r>
              <a:t>정상 지급과 정책 거절</a:t>
            </a:r>
          </a:p>
        </p:txBody>
      </p:sp>
      <p:sp>
        <p:nvSpPr>
          <p:cNvPr id="15" name="Rectangle 14"/>
          <p:cNvSpPr/>
          <p:nvPr/>
        </p:nvSpPr>
        <p:spPr>
          <a:xfrm>
            <a:off x="8028431" y="2743200"/>
            <a:ext cx="3511296" cy="2011680"/>
          </a:xfrm>
          <a:prstGeom prst="rect">
            <a:avLst/>
          </a:prstGeom>
          <a:solidFill>
            <a:srgbClr val="1A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28431" y="2743200"/>
            <a:ext cx="32004" cy="2011680"/>
          </a:xfrm>
          <a:prstGeom prst="rect">
            <a:avLst/>
          </a:prstGeom>
          <a:solidFill>
            <a:srgbClr val="BDA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93023" y="2880360"/>
            <a:ext cx="3182112" cy="411480"/>
          </a:xfrm>
          <a:prstGeom prst="rect">
            <a:avLst/>
          </a:prstGeom>
          <a:noFill/>
        </p:spPr>
        <p:txBody>
          <a:bodyPr wrap="square" lIns="0" rIns="0" tIns="0" bIns="0">
            <a:spAutoFit/>
          </a:bodyPr>
          <a:lstStyle/>
          <a:p>
            <a:pPr>
              <a:defRPr sz="1800" b="1">
                <a:solidFill>
                  <a:srgbClr val="BDABFF"/>
                </a:solidFill>
                <a:latin typeface="맑은 고딕"/>
              </a:defRPr>
            </a:pPr>
            <a:r>
              <a:t>프로그램 2 / Local</a:t>
            </a:r>
          </a:p>
        </p:txBody>
      </p:sp>
      <p:sp>
        <p:nvSpPr>
          <p:cNvPr id="18" name="TextBox 17"/>
          <p:cNvSpPr txBox="1"/>
          <p:nvPr/>
        </p:nvSpPr>
        <p:spPr>
          <a:xfrm>
            <a:off x="8193023" y="3383280"/>
            <a:ext cx="3182112" cy="1344168"/>
          </a:xfrm>
          <a:prstGeom prst="rect">
            <a:avLst/>
          </a:prstGeom>
          <a:noFill/>
        </p:spPr>
        <p:txBody>
          <a:bodyPr wrap="square" lIns="0" rIns="0" tIns="0" bIns="0">
            <a:spAutoFit/>
          </a:bodyPr>
          <a:lstStyle/>
          <a:p>
            <a:pPr>
              <a:defRPr sz="1500" b="0">
                <a:solidFill>
                  <a:srgbClr val="F3F6FA"/>
                </a:solidFill>
                <a:latin typeface="맑은 고딕"/>
              </a:defRPr>
            </a:pPr>
            <a:r>
              <a:t>Clairveil Privacy</a:t>
            </a:r>
          </a:p>
          <a:p>
            <a:pPr>
              <a:defRPr sz="1500" b="0">
                <a:solidFill>
                  <a:srgbClr val="F3F6FA"/>
                </a:solidFill>
                <a:latin typeface="맑은 고딕"/>
              </a:defRPr>
            </a:pPr>
            <a:r>
              <a:t>예치 · 이체 · 수신 확인</a:t>
            </a:r>
          </a:p>
        </p:txBody>
      </p:sp>
      <p:sp>
        <p:nvSpPr>
          <p:cNvPr id="19" name="TextBox 18"/>
          <p:cNvSpPr txBox="1"/>
          <p:nvPr/>
        </p:nvSpPr>
        <p:spPr>
          <a:xfrm>
            <a:off x="685800" y="5166360"/>
            <a:ext cx="10789920" cy="548640"/>
          </a:xfrm>
          <a:prstGeom prst="rect">
            <a:avLst/>
          </a:prstGeom>
          <a:noFill/>
        </p:spPr>
        <p:txBody>
          <a:bodyPr wrap="square" lIns="0" rIns="0" tIns="0" bIns="0">
            <a:spAutoFit/>
          </a:bodyPr>
          <a:lstStyle/>
          <a:p>
            <a:pPr>
              <a:defRPr sz="1900" b="0">
                <a:solidFill>
                  <a:srgbClr val="58D6BD"/>
                </a:solidFill>
                <a:latin typeface="맑은 고딕"/>
              </a:defRPr>
            </a:pPr>
            <a:r>
              <a:t>설명 15분 → PCL·EAS 25분 → Privacy·결과 해석 30분</a:t>
            </a:r>
          </a:p>
        </p:txBody>
      </p:sp>
      <p:sp>
        <p:nvSpPr>
          <p:cNvPr id="20" name="TextBox 19"/>
          <p:cNvSpPr txBox="1"/>
          <p:nvPr/>
        </p:nvSpPr>
        <p:spPr>
          <a:xfrm>
            <a:off x="640080" y="6519672"/>
            <a:ext cx="9144000" cy="182880"/>
          </a:xfrm>
          <a:prstGeom prst="rect">
            <a:avLst/>
          </a:prstGeom>
          <a:noFill/>
        </p:spPr>
        <p:txBody>
          <a:bodyPr wrap="square" lIns="0" rIns="0" tIns="0" bIns="0">
            <a:spAutoFit/>
          </a:bodyPr>
          <a:lstStyle/>
          <a:p>
            <a:pPr>
              <a:defRPr sz="1000" b="0">
                <a:solidFill>
                  <a:srgbClr val="A9BAD0"/>
                </a:solidFill>
                <a:latin typeface="맑은 고딕"/>
              </a:defRPr>
            </a:pPr>
            <a:r>
              <a:t>MAROO WORKSHOP / 설명 10장 · 실습은 웹사이트</a:t>
            </a:r>
          </a:p>
        </p:txBody>
      </p:sp>
      <p:sp>
        <p:nvSpPr>
          <p:cNvPr id="21" name="TextBox 20"/>
          <p:cNvSpPr txBox="1"/>
          <p:nvPr/>
        </p:nvSpPr>
        <p:spPr>
          <a:xfrm>
            <a:off x="10698480" y="6519672"/>
            <a:ext cx="914400" cy="182880"/>
          </a:xfrm>
          <a:prstGeom prst="rect">
            <a:avLst/>
          </a:prstGeom>
          <a:noFill/>
        </p:spPr>
        <p:txBody>
          <a:bodyPr wrap="square" lIns="0" rIns="0" tIns="0" bIns="0">
            <a:spAutoFit/>
          </a:bodyPr>
          <a:lstStyle/>
          <a:p>
            <a:pPr>
              <a:defRPr sz="1000" b="0">
                <a:solidFill>
                  <a:srgbClr val="A9BAD0"/>
                </a:solidFill>
                <a:latin typeface="맑은 고딕"/>
              </a:defRPr>
            </a:pPr>
            <a:r>
              <a:t>01 / 10</a:t>
            </a:r>
          </a:p>
        </p:txBody>
      </p:sp>
      <p:sp>
        <p:nvSpPr>
          <p:cNvPr id="22" name="Rectangle 21"/>
          <p:cNvSpPr/>
          <p:nvPr/>
        </p:nvSpPr>
        <p:spPr>
          <a:xfrm>
            <a:off x="640080" y="6382512"/>
            <a:ext cx="10899648" cy="13716"/>
          </a:xfrm>
          <a:prstGeom prst="rect">
            <a:avLst/>
          </a:prstGeom>
          <a:solidFill>
            <a:srgbClr val="1A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8229600" cy="274320"/>
          </a:xfrm>
          <a:prstGeom prst="rect">
            <a:avLst/>
          </a:prstGeom>
          <a:noFill/>
        </p:spPr>
        <p:txBody>
          <a:bodyPr wrap="square" lIns="0" rIns="0" tIns="0" bIns="0">
            <a:spAutoFit/>
          </a:bodyPr>
          <a:lstStyle/>
          <a:p>
            <a:pPr>
              <a:defRPr sz="1200" b="1">
                <a:solidFill>
                  <a:srgbClr val="58D6BD"/>
                </a:solidFill>
                <a:latin typeface="맑은 고딕"/>
              </a:defRPr>
            </a:pPr>
            <a:r>
              <a:t>BUSINESS ARCHITECTURE</a:t>
            </a:r>
          </a:p>
        </p:txBody>
      </p:sp>
      <p:sp>
        <p:nvSpPr>
          <p:cNvPr id="4" name="TextBox 3"/>
          <p:cNvSpPr txBox="1"/>
          <p:nvPr/>
        </p:nvSpPr>
        <p:spPr>
          <a:xfrm>
            <a:off x="9784080" y="411480"/>
            <a:ext cx="1828800" cy="274320"/>
          </a:xfrm>
          <a:prstGeom prst="rect">
            <a:avLst/>
          </a:prstGeom>
          <a:noFill/>
        </p:spPr>
        <p:txBody>
          <a:bodyPr wrap="square" lIns="0" rIns="0" tIns="0" bIns="0">
            <a:spAutoFit/>
          </a:bodyPr>
          <a:lstStyle/>
          <a:p>
            <a:pPr>
              <a:defRPr sz="1200" b="0">
                <a:solidFill>
                  <a:srgbClr val="A9BAD0"/>
                </a:solidFill>
                <a:latin typeface="맑은 고딕"/>
              </a:defRPr>
            </a:pPr>
            <a:r>
              <a:t>03–08 MIN</a:t>
            </a:r>
          </a:p>
        </p:txBody>
      </p:sp>
      <p:sp>
        <p:nvSpPr>
          <p:cNvPr id="5" name="TextBox 4"/>
          <p:cNvSpPr txBox="1"/>
          <p:nvPr/>
        </p:nvSpPr>
        <p:spPr>
          <a:xfrm>
            <a:off x="640080" y="932688"/>
            <a:ext cx="10927080" cy="1005840"/>
          </a:xfrm>
          <a:prstGeom prst="rect">
            <a:avLst/>
          </a:prstGeom>
          <a:noFill/>
        </p:spPr>
        <p:txBody>
          <a:bodyPr wrap="square" lIns="0" rIns="0" tIns="0" bIns="0">
            <a:spAutoFit/>
          </a:bodyPr>
          <a:lstStyle/>
          <a:p>
            <a:pPr>
              <a:defRPr sz="3000" b="1">
                <a:solidFill>
                  <a:srgbClr val="F3F6FA"/>
                </a:solidFill>
                <a:latin typeface="맑은 고딕"/>
              </a:defRPr>
            </a:pPr>
            <a:r>
              <a:t>은행 시스템과 Maroo는 어디에서 연결되는가?</a:t>
            </a:r>
          </a:p>
        </p:txBody>
      </p:sp>
      <p:sp>
        <p:nvSpPr>
          <p:cNvPr id="6" name="TextBox 5"/>
          <p:cNvSpPr txBox="1"/>
          <p:nvPr/>
        </p:nvSpPr>
        <p:spPr>
          <a:xfrm>
            <a:off x="658368" y="1938528"/>
            <a:ext cx="10881360" cy="548640"/>
          </a:xfrm>
          <a:prstGeom prst="rect">
            <a:avLst/>
          </a:prstGeom>
          <a:noFill/>
        </p:spPr>
        <p:txBody>
          <a:bodyPr wrap="square" lIns="0" rIns="0" tIns="0" bIns="0">
            <a:spAutoFit/>
          </a:bodyPr>
          <a:lstStyle/>
          <a:p>
            <a:pPr>
              <a:defRPr sz="1800" b="0">
                <a:solidFill>
                  <a:srgbClr val="A9BAD0"/>
                </a:solidFill>
                <a:latin typeface="맑은 고딕"/>
              </a:defRPr>
            </a:pPr>
            <a:r>
              <a:t>심사는 은행에서, 자격 기록과 지급 조건 검사는 체인에서</a:t>
            </a:r>
          </a:p>
        </p:txBody>
      </p:sp>
      <p:sp>
        <p:nvSpPr>
          <p:cNvPr id="7" name="TextBox 6"/>
          <p:cNvSpPr txBox="1"/>
          <p:nvPr/>
        </p:nvSpPr>
        <p:spPr>
          <a:xfrm>
            <a:off x="731520" y="2697480"/>
            <a:ext cx="3657600" cy="365760"/>
          </a:xfrm>
          <a:prstGeom prst="rect">
            <a:avLst/>
          </a:prstGeom>
          <a:noFill/>
        </p:spPr>
        <p:txBody>
          <a:bodyPr wrap="square" lIns="0" rIns="0" tIns="0" bIns="0">
            <a:spAutoFit/>
          </a:bodyPr>
          <a:lstStyle/>
          <a:p>
            <a:pPr>
              <a:defRPr sz="1500" b="0">
                <a:solidFill>
                  <a:srgbClr val="A9BAD0"/>
                </a:solidFill>
                <a:latin typeface="맑은 고딕"/>
              </a:defRPr>
            </a:pPr>
            <a:r>
              <a:t>은행 시스템 · 설계 맥락</a:t>
            </a:r>
          </a:p>
        </p:txBody>
      </p:sp>
      <p:sp>
        <p:nvSpPr>
          <p:cNvPr id="8" name="TextBox 7"/>
          <p:cNvSpPr txBox="1"/>
          <p:nvPr/>
        </p:nvSpPr>
        <p:spPr>
          <a:xfrm>
            <a:off x="4754880" y="2697480"/>
            <a:ext cx="5486400" cy="365760"/>
          </a:xfrm>
          <a:prstGeom prst="rect">
            <a:avLst/>
          </a:prstGeom>
          <a:noFill/>
        </p:spPr>
        <p:txBody>
          <a:bodyPr wrap="square" lIns="0" rIns="0" tIns="0" bIns="0">
            <a:spAutoFit/>
          </a:bodyPr>
          <a:lstStyle/>
          <a:p>
            <a:pPr>
              <a:defRPr sz="1500" b="0">
                <a:solidFill>
                  <a:srgbClr val="58D6BD"/>
                </a:solidFill>
                <a:latin typeface="맑은 고딕"/>
              </a:defRPr>
            </a:pPr>
            <a:r>
              <a:t>Maroo · 실습 대상</a:t>
            </a:r>
          </a:p>
        </p:txBody>
      </p:sp>
      <p:sp>
        <p:nvSpPr>
          <p:cNvPr id="9" name="Rectangle 8"/>
          <p:cNvSpPr/>
          <p:nvPr/>
        </p:nvSpPr>
        <p:spPr>
          <a:xfrm>
            <a:off x="731520" y="3200400"/>
            <a:ext cx="2971800" cy="1188720"/>
          </a:xfrm>
          <a:prstGeom prst="rect">
            <a:avLst/>
          </a:prstGeom>
          <a:solidFill>
            <a:srgbClr val="1A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3200400"/>
            <a:ext cx="32004" cy="1188720"/>
          </a:xfrm>
          <a:prstGeom prst="rect">
            <a:avLst/>
          </a:prstGeom>
          <a:solidFill>
            <a:srgbClr val="58D6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3337560"/>
            <a:ext cx="2642616" cy="411480"/>
          </a:xfrm>
          <a:prstGeom prst="rect">
            <a:avLst/>
          </a:prstGeom>
          <a:noFill/>
        </p:spPr>
        <p:txBody>
          <a:bodyPr wrap="square" lIns="0" rIns="0" tIns="0" bIns="0">
            <a:spAutoFit/>
          </a:bodyPr>
          <a:lstStyle/>
          <a:p>
            <a:pPr>
              <a:defRPr sz="1800" b="1">
                <a:solidFill>
                  <a:srgbClr val="58D6BD"/>
                </a:solidFill>
                <a:latin typeface="맑은 고딕"/>
              </a:defRPr>
            </a:pPr>
            <a:r>
              <a:t>심사 · 이용 승인</a:t>
            </a:r>
          </a:p>
        </p:txBody>
      </p:sp>
      <p:sp>
        <p:nvSpPr>
          <p:cNvPr id="12" name="TextBox 11"/>
          <p:cNvSpPr txBox="1"/>
          <p:nvPr/>
        </p:nvSpPr>
        <p:spPr>
          <a:xfrm>
            <a:off x="896112" y="3840480"/>
            <a:ext cx="2642616" cy="521208"/>
          </a:xfrm>
          <a:prstGeom prst="rect">
            <a:avLst/>
          </a:prstGeom>
          <a:noFill/>
        </p:spPr>
        <p:txBody>
          <a:bodyPr wrap="square" lIns="0" rIns="0" tIns="0" bIns="0">
            <a:spAutoFit/>
          </a:bodyPr>
          <a:lstStyle/>
          <a:p>
            <a:pPr>
              <a:defRPr sz="1500" b="0">
                <a:solidFill>
                  <a:srgbClr val="F3F6FA"/>
                </a:solidFill>
                <a:latin typeface="맑은 고딕"/>
              </a:defRPr>
            </a:pPr>
            <a:r>
              <a:t>기존 KYB·승인 프로세스</a:t>
            </a:r>
          </a:p>
        </p:txBody>
      </p:sp>
      <p:sp>
        <p:nvSpPr>
          <p:cNvPr id="13" name="Rectangle 12"/>
          <p:cNvSpPr/>
          <p:nvPr/>
        </p:nvSpPr>
        <p:spPr>
          <a:xfrm>
            <a:off x="4709160" y="3200400"/>
            <a:ext cx="3017520" cy="1188720"/>
          </a:xfrm>
          <a:prstGeom prst="rect">
            <a:avLst/>
          </a:prstGeom>
          <a:solidFill>
            <a:srgbClr val="1A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709160" y="3200400"/>
            <a:ext cx="32004" cy="1188720"/>
          </a:xfrm>
          <a:prstGeom prst="rect">
            <a:avLst/>
          </a:prstGeom>
          <a:solidFill>
            <a:srgbClr val="58D6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873752" y="3337560"/>
            <a:ext cx="2688336" cy="411480"/>
          </a:xfrm>
          <a:prstGeom prst="rect">
            <a:avLst/>
          </a:prstGeom>
          <a:noFill/>
        </p:spPr>
        <p:txBody>
          <a:bodyPr wrap="square" lIns="0" rIns="0" tIns="0" bIns="0">
            <a:spAutoFit/>
          </a:bodyPr>
          <a:lstStyle/>
          <a:p>
            <a:pPr>
              <a:defRPr sz="1800" b="1">
                <a:solidFill>
                  <a:srgbClr val="58D6BD"/>
                </a:solidFill>
                <a:latin typeface="맑은 고딕"/>
              </a:defRPr>
            </a:pPr>
            <a:r>
              <a:t>EAS + Indexer</a:t>
            </a:r>
          </a:p>
        </p:txBody>
      </p:sp>
      <p:sp>
        <p:nvSpPr>
          <p:cNvPr id="16" name="TextBox 15"/>
          <p:cNvSpPr txBox="1"/>
          <p:nvPr/>
        </p:nvSpPr>
        <p:spPr>
          <a:xfrm>
            <a:off x="4873752" y="3840480"/>
            <a:ext cx="2688336" cy="521208"/>
          </a:xfrm>
          <a:prstGeom prst="rect">
            <a:avLst/>
          </a:prstGeom>
          <a:noFill/>
        </p:spPr>
        <p:txBody>
          <a:bodyPr wrap="square" lIns="0" rIns="0" tIns="0" bIns="0">
            <a:spAutoFit/>
          </a:bodyPr>
          <a:lstStyle/>
          <a:p>
            <a:pPr>
              <a:defRPr sz="1500" b="0">
                <a:solidFill>
                  <a:srgbClr val="F3F6FA"/>
                </a:solidFill>
                <a:latin typeface="맑은 고딕"/>
              </a:defRPr>
            </a:pPr>
            <a:r>
              <a:t>자격 발급 · 인덱싱 · 폐기</a:t>
            </a:r>
          </a:p>
        </p:txBody>
      </p:sp>
      <p:cxnSp>
        <p:nvCxnSpPr>
          <p:cNvPr id="17" name="Connector 16"/>
          <p:cNvCxnSpPr/>
          <p:nvPr/>
        </p:nvCxnSpPr>
        <p:spPr>
          <a:xfrm>
            <a:off x="3703320" y="3749039"/>
            <a:ext cx="960120" cy="0"/>
          </a:xfrm>
          <a:prstGeom prst="line">
            <a:avLst/>
          </a:prstGeom>
          <a:ln w="25400">
            <a:solidFill>
              <a:srgbClr val="58D6B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4559120" y="3749039"/>
            <a:ext cx="104320" cy="56991"/>
          </a:xfrm>
          <a:prstGeom prst="line">
            <a:avLst/>
          </a:prstGeom>
          <a:ln w="25400">
            <a:solidFill>
              <a:srgbClr val="58D6B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4559120" y="3692049"/>
            <a:ext cx="104320" cy="56990"/>
          </a:xfrm>
          <a:prstGeom prst="line">
            <a:avLst/>
          </a:prstGeom>
          <a:ln w="25400">
            <a:solidFill>
              <a:srgbClr val="58D6BD"/>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3886200" y="3346704"/>
            <a:ext cx="731520" cy="320040"/>
          </a:xfrm>
          <a:prstGeom prst="rect">
            <a:avLst/>
          </a:prstGeom>
          <a:noFill/>
        </p:spPr>
        <p:txBody>
          <a:bodyPr wrap="square" lIns="0" rIns="0" tIns="0" bIns="0">
            <a:spAutoFit/>
          </a:bodyPr>
          <a:lstStyle/>
          <a:p>
            <a:pPr>
              <a:defRPr sz="1200" b="0">
                <a:solidFill>
                  <a:srgbClr val="A9BAD0"/>
                </a:solidFill>
                <a:latin typeface="맑은 고딕"/>
              </a:defRPr>
            </a:pPr>
            <a:r>
              <a:t>발급</a:t>
            </a:r>
          </a:p>
        </p:txBody>
      </p:sp>
      <p:sp>
        <p:nvSpPr>
          <p:cNvPr id="21" name="Rectangle 20"/>
          <p:cNvSpPr/>
          <p:nvPr/>
        </p:nvSpPr>
        <p:spPr>
          <a:xfrm>
            <a:off x="731520" y="4617720"/>
            <a:ext cx="2971800" cy="1188720"/>
          </a:xfrm>
          <a:prstGeom prst="rect">
            <a:avLst/>
          </a:prstGeom>
          <a:solidFill>
            <a:srgbClr val="1A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31520" y="4617720"/>
            <a:ext cx="32004" cy="1188720"/>
          </a:xfrm>
          <a:prstGeom prst="rect">
            <a:avLst/>
          </a:prstGeom>
          <a:solidFill>
            <a:srgbClr val="58D6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6112" y="4754880"/>
            <a:ext cx="2642616" cy="411480"/>
          </a:xfrm>
          <a:prstGeom prst="rect">
            <a:avLst/>
          </a:prstGeom>
          <a:noFill/>
        </p:spPr>
        <p:txBody>
          <a:bodyPr wrap="square" lIns="0" rIns="0" tIns="0" bIns="0">
            <a:spAutoFit/>
          </a:bodyPr>
          <a:lstStyle/>
          <a:p>
            <a:pPr>
              <a:defRPr sz="1800" b="1">
                <a:solidFill>
                  <a:srgbClr val="58D6BD"/>
                </a:solidFill>
                <a:latin typeface="맑은 고딕"/>
              </a:defRPr>
            </a:pPr>
            <a:r>
              <a:t>기업 지급 요청</a:t>
            </a:r>
          </a:p>
        </p:txBody>
      </p:sp>
      <p:sp>
        <p:nvSpPr>
          <p:cNvPr id="24" name="TextBox 23"/>
          <p:cNvSpPr txBox="1"/>
          <p:nvPr/>
        </p:nvSpPr>
        <p:spPr>
          <a:xfrm>
            <a:off x="896112" y="5257800"/>
            <a:ext cx="2642616" cy="521208"/>
          </a:xfrm>
          <a:prstGeom prst="rect">
            <a:avLst/>
          </a:prstGeom>
          <a:noFill/>
        </p:spPr>
        <p:txBody>
          <a:bodyPr wrap="square" lIns="0" rIns="0" tIns="0" bIns="0">
            <a:spAutoFit/>
          </a:bodyPr>
          <a:lstStyle/>
          <a:p>
            <a:pPr>
              <a:defRPr sz="1500" b="0">
                <a:solidFill>
                  <a:srgbClr val="F3F6FA"/>
                </a:solidFill>
                <a:latin typeface="맑은 고딕"/>
              </a:defRPr>
            </a:pPr>
            <a:r>
              <a:t>은행 API / 서명 계정</a:t>
            </a:r>
          </a:p>
        </p:txBody>
      </p:sp>
      <p:sp>
        <p:nvSpPr>
          <p:cNvPr id="25" name="Rectangle 24"/>
          <p:cNvSpPr/>
          <p:nvPr/>
        </p:nvSpPr>
        <p:spPr>
          <a:xfrm>
            <a:off x="4709160" y="4617720"/>
            <a:ext cx="3017520" cy="1188720"/>
          </a:xfrm>
          <a:prstGeom prst="rect">
            <a:avLst/>
          </a:prstGeom>
          <a:solidFill>
            <a:srgbClr val="1A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709160" y="4617720"/>
            <a:ext cx="32004" cy="1188720"/>
          </a:xfrm>
          <a:prstGeom prst="rect">
            <a:avLst/>
          </a:prstGeom>
          <a:solidFill>
            <a:srgbClr val="58D6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873752" y="4754880"/>
            <a:ext cx="2688336" cy="411480"/>
          </a:xfrm>
          <a:prstGeom prst="rect">
            <a:avLst/>
          </a:prstGeom>
          <a:noFill/>
        </p:spPr>
        <p:txBody>
          <a:bodyPr wrap="square" lIns="0" rIns="0" tIns="0" bIns="0">
            <a:spAutoFit/>
          </a:bodyPr>
          <a:lstStyle/>
          <a:p>
            <a:pPr>
              <a:defRPr sz="1800" b="1">
                <a:solidFill>
                  <a:srgbClr val="58D6BD"/>
                </a:solidFill>
                <a:latin typeface="맑은 고딕"/>
              </a:defRPr>
            </a:pPr>
            <a:r>
              <a:t>PCL 등록 프록시</a:t>
            </a:r>
          </a:p>
        </p:txBody>
      </p:sp>
      <p:sp>
        <p:nvSpPr>
          <p:cNvPr id="28" name="TextBox 27"/>
          <p:cNvSpPr txBox="1"/>
          <p:nvPr/>
        </p:nvSpPr>
        <p:spPr>
          <a:xfrm>
            <a:off x="4873752" y="5257800"/>
            <a:ext cx="2688336" cy="521208"/>
          </a:xfrm>
          <a:prstGeom prst="rect">
            <a:avLst/>
          </a:prstGeom>
          <a:noFill/>
        </p:spPr>
        <p:txBody>
          <a:bodyPr wrap="square" lIns="0" rIns="0" tIns="0" bIns="0">
            <a:spAutoFit/>
          </a:bodyPr>
          <a:lstStyle/>
          <a:p>
            <a:pPr>
              <a:defRPr sz="1500" b="0">
                <a:solidFill>
                  <a:srgbClr val="F3F6FA"/>
                </a:solidFill>
                <a:latin typeface="맑은 고딕"/>
              </a:defRPr>
            </a:pPr>
            <a:r>
              <a:t>유효 자격 검사 → 지급</a:t>
            </a:r>
          </a:p>
        </p:txBody>
      </p:sp>
      <p:sp>
        <p:nvSpPr>
          <p:cNvPr id="29" name="Rectangle 28"/>
          <p:cNvSpPr/>
          <p:nvPr/>
        </p:nvSpPr>
        <p:spPr>
          <a:xfrm>
            <a:off x="8458200" y="4617720"/>
            <a:ext cx="2926080" cy="1188720"/>
          </a:xfrm>
          <a:prstGeom prst="rect">
            <a:avLst/>
          </a:prstGeom>
          <a:solidFill>
            <a:srgbClr val="1A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458200" y="4617720"/>
            <a:ext cx="32004" cy="1188720"/>
          </a:xfrm>
          <a:prstGeom prst="rect">
            <a:avLst/>
          </a:prstGeom>
          <a:solidFill>
            <a:srgbClr val="58D6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622792" y="4754880"/>
            <a:ext cx="2596896" cy="411480"/>
          </a:xfrm>
          <a:prstGeom prst="rect">
            <a:avLst/>
          </a:prstGeom>
          <a:noFill/>
        </p:spPr>
        <p:txBody>
          <a:bodyPr wrap="square" lIns="0" rIns="0" tIns="0" bIns="0">
            <a:spAutoFit/>
          </a:bodyPr>
          <a:lstStyle/>
          <a:p>
            <a:pPr>
              <a:defRPr sz="1800" b="1">
                <a:solidFill>
                  <a:srgbClr val="58D6BD"/>
                </a:solidFill>
                <a:latin typeface="맑은 고딕"/>
              </a:defRPr>
            </a:pPr>
            <a:r>
              <a:t>수취 기업</a:t>
            </a:r>
          </a:p>
        </p:txBody>
      </p:sp>
      <p:sp>
        <p:nvSpPr>
          <p:cNvPr id="32" name="TextBox 31"/>
          <p:cNvSpPr txBox="1"/>
          <p:nvPr/>
        </p:nvSpPr>
        <p:spPr>
          <a:xfrm>
            <a:off x="8622792" y="5257800"/>
            <a:ext cx="2596896" cy="521208"/>
          </a:xfrm>
          <a:prstGeom prst="rect">
            <a:avLst/>
          </a:prstGeom>
          <a:noFill/>
        </p:spPr>
        <p:txBody>
          <a:bodyPr wrap="square" lIns="0" rIns="0" tIns="0" bIns="0">
            <a:spAutoFit/>
          </a:bodyPr>
          <a:lstStyle/>
          <a:p>
            <a:pPr>
              <a:defRPr sz="1500" b="0">
                <a:solidFill>
                  <a:srgbClr val="F3F6FA"/>
                </a:solidFill>
                <a:latin typeface="맑은 고딕"/>
              </a:defRPr>
            </a:pPr>
            <a:r>
              <a:t>지급 결과 확인</a:t>
            </a:r>
          </a:p>
        </p:txBody>
      </p:sp>
      <p:cxnSp>
        <p:nvCxnSpPr>
          <p:cNvPr id="33" name="Connector 32"/>
          <p:cNvCxnSpPr/>
          <p:nvPr/>
        </p:nvCxnSpPr>
        <p:spPr>
          <a:xfrm>
            <a:off x="3703320" y="5166360"/>
            <a:ext cx="960120" cy="0"/>
          </a:xfrm>
          <a:prstGeom prst="line">
            <a:avLst/>
          </a:prstGeom>
          <a:ln w="25400">
            <a:solidFill>
              <a:srgbClr val="58D6BD"/>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4559120" y="5166360"/>
            <a:ext cx="104320" cy="56990"/>
          </a:xfrm>
          <a:prstGeom prst="line">
            <a:avLst/>
          </a:prstGeom>
          <a:ln w="25400">
            <a:solidFill>
              <a:srgbClr val="58D6BD"/>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4559120" y="5109369"/>
            <a:ext cx="104320" cy="56991"/>
          </a:xfrm>
          <a:prstGeom prst="line">
            <a:avLst/>
          </a:prstGeom>
          <a:ln w="25400">
            <a:solidFill>
              <a:srgbClr val="58D6BD"/>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7726679" y="5166360"/>
            <a:ext cx="685801" cy="0"/>
          </a:xfrm>
          <a:prstGeom prst="line">
            <a:avLst/>
          </a:prstGeom>
          <a:ln w="25400">
            <a:solidFill>
              <a:srgbClr val="58D6BD"/>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8308160" y="5166360"/>
            <a:ext cx="104320" cy="56990"/>
          </a:xfrm>
          <a:prstGeom prst="line">
            <a:avLst/>
          </a:prstGeom>
          <a:ln w="25400">
            <a:solidFill>
              <a:srgbClr val="58D6BD"/>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8308160" y="5109369"/>
            <a:ext cx="104320" cy="56991"/>
          </a:xfrm>
          <a:prstGeom prst="line">
            <a:avLst/>
          </a:prstGeom>
          <a:ln w="25400">
            <a:solidFill>
              <a:srgbClr val="58D6BD"/>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6217920" y="4389120"/>
            <a:ext cx="0" cy="182880"/>
          </a:xfrm>
          <a:prstGeom prst="line">
            <a:avLst/>
          </a:prstGeom>
          <a:ln w="25400">
            <a:solidFill>
              <a:srgbClr val="58D6BD"/>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6160929" y="4467680"/>
            <a:ext cx="56991" cy="104320"/>
          </a:xfrm>
          <a:prstGeom prst="line">
            <a:avLst/>
          </a:prstGeom>
          <a:ln w="25400">
            <a:solidFill>
              <a:srgbClr val="58D6BD"/>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a:off x="6217920" y="4467680"/>
            <a:ext cx="56990" cy="104320"/>
          </a:xfrm>
          <a:prstGeom prst="line">
            <a:avLst/>
          </a:prstGeom>
          <a:ln w="25400">
            <a:solidFill>
              <a:srgbClr val="58D6BD"/>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640080" y="6519672"/>
            <a:ext cx="9144000" cy="182880"/>
          </a:xfrm>
          <a:prstGeom prst="rect">
            <a:avLst/>
          </a:prstGeom>
          <a:noFill/>
        </p:spPr>
        <p:txBody>
          <a:bodyPr wrap="square" lIns="0" rIns="0" tIns="0" bIns="0">
            <a:spAutoFit/>
          </a:bodyPr>
          <a:lstStyle/>
          <a:p>
            <a:pPr>
              <a:defRPr sz="1000" b="0">
                <a:solidFill>
                  <a:srgbClr val="A9BAD0"/>
                </a:solidFill>
                <a:latin typeface="맑은 고딕"/>
              </a:defRPr>
            </a:pPr>
            <a:r>
              <a:t>MAROO WORKSHOP / 설명 10장 · 실습은 웹사이트</a:t>
            </a:r>
          </a:p>
        </p:txBody>
      </p:sp>
      <p:sp>
        <p:nvSpPr>
          <p:cNvPr id="43" name="TextBox 42"/>
          <p:cNvSpPr txBox="1"/>
          <p:nvPr/>
        </p:nvSpPr>
        <p:spPr>
          <a:xfrm>
            <a:off x="10698480" y="6519672"/>
            <a:ext cx="914400" cy="182880"/>
          </a:xfrm>
          <a:prstGeom prst="rect">
            <a:avLst/>
          </a:prstGeom>
          <a:noFill/>
        </p:spPr>
        <p:txBody>
          <a:bodyPr wrap="square" lIns="0" rIns="0" tIns="0" bIns="0">
            <a:spAutoFit/>
          </a:bodyPr>
          <a:lstStyle/>
          <a:p>
            <a:pPr>
              <a:defRPr sz="1000" b="0">
                <a:solidFill>
                  <a:srgbClr val="A9BAD0"/>
                </a:solidFill>
                <a:latin typeface="맑은 고딕"/>
              </a:defRPr>
            </a:pPr>
            <a:r>
              <a:t>02 / 10</a:t>
            </a:r>
          </a:p>
        </p:txBody>
      </p:sp>
      <p:sp>
        <p:nvSpPr>
          <p:cNvPr id="44" name="Rectangle 43"/>
          <p:cNvSpPr/>
          <p:nvPr/>
        </p:nvSpPr>
        <p:spPr>
          <a:xfrm>
            <a:off x="640080" y="6382512"/>
            <a:ext cx="10899648" cy="13716"/>
          </a:xfrm>
          <a:prstGeom prst="rect">
            <a:avLst/>
          </a:prstGeom>
          <a:solidFill>
            <a:srgbClr val="1A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58368" y="6080760"/>
            <a:ext cx="1828800" cy="228600"/>
          </a:xfrm>
          <a:prstGeom prst="rect">
            <a:avLst/>
          </a:prstGeom>
          <a:noFill/>
        </p:spPr>
        <p:txBody>
          <a:bodyPr wrap="square" lIns="0" rIns="0" tIns="0" bIns="0">
            <a:spAutoFit/>
          </a:bodyPr>
          <a:lstStyle/>
          <a:p>
            <a:pPr>
              <a:defRPr sz="1100" b="0">
                <a:solidFill>
                  <a:srgbClr val="A9BAD0"/>
                </a:solidFill>
                <a:latin typeface="맑은 고딕"/>
              </a:defRPr>
            </a:pPr>
            <a:r>
              <a:rPr>
                <a:hlinkClick r:id="rId2"/>
              </a:rPr>
              <a:t>참고자료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8229600" cy="274320"/>
          </a:xfrm>
          <a:prstGeom prst="rect">
            <a:avLst/>
          </a:prstGeom>
          <a:noFill/>
        </p:spPr>
        <p:txBody>
          <a:bodyPr wrap="square" lIns="0" rIns="0" tIns="0" bIns="0">
            <a:spAutoFit/>
          </a:bodyPr>
          <a:lstStyle/>
          <a:p>
            <a:pPr>
              <a:defRPr sz="1200" b="1">
                <a:solidFill>
                  <a:srgbClr val="58D6BD"/>
                </a:solidFill>
                <a:latin typeface="맑은 고딕"/>
              </a:defRPr>
            </a:pPr>
            <a:r>
              <a:t>CHAIN ARCHITECTURE</a:t>
            </a:r>
          </a:p>
        </p:txBody>
      </p:sp>
      <p:sp>
        <p:nvSpPr>
          <p:cNvPr id="4" name="TextBox 3"/>
          <p:cNvSpPr txBox="1"/>
          <p:nvPr/>
        </p:nvSpPr>
        <p:spPr>
          <a:xfrm>
            <a:off x="9784080" y="411480"/>
            <a:ext cx="1828800" cy="274320"/>
          </a:xfrm>
          <a:prstGeom prst="rect">
            <a:avLst/>
          </a:prstGeom>
          <a:noFill/>
        </p:spPr>
        <p:txBody>
          <a:bodyPr wrap="square" lIns="0" rIns="0" tIns="0" bIns="0">
            <a:spAutoFit/>
          </a:bodyPr>
          <a:lstStyle/>
          <a:p>
            <a:pPr>
              <a:defRPr sz="1200" b="0">
                <a:solidFill>
                  <a:srgbClr val="A9BAD0"/>
                </a:solidFill>
                <a:latin typeface="맑은 고딕"/>
              </a:defRPr>
            </a:pPr>
            <a:r>
              <a:t>08–12 MIN</a:t>
            </a:r>
          </a:p>
        </p:txBody>
      </p:sp>
      <p:sp>
        <p:nvSpPr>
          <p:cNvPr id="5" name="TextBox 4"/>
          <p:cNvSpPr txBox="1"/>
          <p:nvPr/>
        </p:nvSpPr>
        <p:spPr>
          <a:xfrm>
            <a:off x="640080" y="932688"/>
            <a:ext cx="10927080" cy="1005840"/>
          </a:xfrm>
          <a:prstGeom prst="rect">
            <a:avLst/>
          </a:prstGeom>
          <a:noFill/>
        </p:spPr>
        <p:txBody>
          <a:bodyPr wrap="square" lIns="0" rIns="0" tIns="0" bIns="0">
            <a:spAutoFit/>
          </a:bodyPr>
          <a:lstStyle/>
          <a:p>
            <a:pPr>
              <a:defRPr sz="3000" b="1">
                <a:solidFill>
                  <a:srgbClr val="F3F6FA"/>
                </a:solidFill>
                <a:latin typeface="맑은 고딕"/>
              </a:defRPr>
            </a:pPr>
            <a:r>
              <a:t>Maroo 구조: EVM에서 체인 기능까지</a:t>
            </a:r>
          </a:p>
        </p:txBody>
      </p:sp>
      <p:sp>
        <p:nvSpPr>
          <p:cNvPr id="6" name="TextBox 5"/>
          <p:cNvSpPr txBox="1"/>
          <p:nvPr/>
        </p:nvSpPr>
        <p:spPr>
          <a:xfrm>
            <a:off x="658368" y="1938528"/>
            <a:ext cx="10881360" cy="548640"/>
          </a:xfrm>
          <a:prstGeom prst="rect">
            <a:avLst/>
          </a:prstGeom>
          <a:noFill/>
        </p:spPr>
        <p:txBody>
          <a:bodyPr wrap="square" lIns="0" rIns="0" tIns="0" bIns="0">
            <a:spAutoFit/>
          </a:bodyPr>
          <a:lstStyle/>
          <a:p>
            <a:pPr>
              <a:defRPr sz="1800" b="0">
                <a:solidFill>
                  <a:srgbClr val="A9BAD0"/>
                </a:solidFill>
                <a:latin typeface="맑은 고딕"/>
              </a:defRPr>
            </a:pPr>
            <a:r>
              <a:t>EVM 개발 도구와 프리컴파일 인터페이스의 관계</a:t>
            </a:r>
          </a:p>
        </p:txBody>
      </p:sp>
      <p:sp>
        <p:nvSpPr>
          <p:cNvPr id="7" name="Rectangle 6"/>
          <p:cNvSpPr/>
          <p:nvPr/>
        </p:nvSpPr>
        <p:spPr>
          <a:xfrm>
            <a:off x="731520" y="2880360"/>
            <a:ext cx="2606040" cy="1234440"/>
          </a:xfrm>
          <a:prstGeom prst="rect">
            <a:avLst/>
          </a:prstGeom>
          <a:solidFill>
            <a:srgbClr val="1A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2880360"/>
            <a:ext cx="32004" cy="1234440"/>
          </a:xfrm>
          <a:prstGeom prst="rect">
            <a:avLst/>
          </a:prstGeom>
          <a:solidFill>
            <a:srgbClr val="58D6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3017520"/>
            <a:ext cx="2276856" cy="411480"/>
          </a:xfrm>
          <a:prstGeom prst="rect">
            <a:avLst/>
          </a:prstGeom>
          <a:noFill/>
        </p:spPr>
        <p:txBody>
          <a:bodyPr wrap="square" lIns="0" rIns="0" tIns="0" bIns="0">
            <a:spAutoFit/>
          </a:bodyPr>
          <a:lstStyle/>
          <a:p>
            <a:pPr>
              <a:defRPr sz="1800" b="1">
                <a:solidFill>
                  <a:srgbClr val="58D6BD"/>
                </a:solidFill>
                <a:latin typeface="맑은 고딕"/>
              </a:defRPr>
            </a:pPr>
            <a:r>
              <a:t>앱 · ethers</a:t>
            </a:r>
          </a:p>
        </p:txBody>
      </p:sp>
      <p:sp>
        <p:nvSpPr>
          <p:cNvPr id="10" name="TextBox 9"/>
          <p:cNvSpPr txBox="1"/>
          <p:nvPr/>
        </p:nvSpPr>
        <p:spPr>
          <a:xfrm>
            <a:off x="896112" y="3520439"/>
            <a:ext cx="2276856" cy="566928"/>
          </a:xfrm>
          <a:prstGeom prst="rect">
            <a:avLst/>
          </a:prstGeom>
          <a:noFill/>
        </p:spPr>
        <p:txBody>
          <a:bodyPr wrap="square" lIns="0" rIns="0" tIns="0" bIns="0">
            <a:spAutoFit/>
          </a:bodyPr>
          <a:lstStyle/>
          <a:p>
            <a:pPr>
              <a:defRPr sz="1500" b="0">
                <a:solidFill>
                  <a:srgbClr val="F3F6FA"/>
                </a:solidFill>
                <a:latin typeface="맑은 고딕"/>
              </a:defRPr>
            </a:pPr>
            <a:r>
              <a:t>JSON-RPC / 서명된 요청</a:t>
            </a:r>
          </a:p>
        </p:txBody>
      </p:sp>
      <p:cxnSp>
        <p:nvCxnSpPr>
          <p:cNvPr id="11" name="Connector 10"/>
          <p:cNvCxnSpPr/>
          <p:nvPr/>
        </p:nvCxnSpPr>
        <p:spPr>
          <a:xfrm>
            <a:off x="3337560" y="3474720"/>
            <a:ext cx="640079" cy="0"/>
          </a:xfrm>
          <a:prstGeom prst="line">
            <a:avLst/>
          </a:prstGeom>
          <a:ln w="25400">
            <a:solidFill>
              <a:srgbClr val="58D6B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3873320" y="3474720"/>
            <a:ext cx="104319" cy="56990"/>
          </a:xfrm>
          <a:prstGeom prst="line">
            <a:avLst/>
          </a:prstGeom>
          <a:ln w="25400">
            <a:solidFill>
              <a:srgbClr val="58D6B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3873320" y="3417729"/>
            <a:ext cx="104319" cy="56991"/>
          </a:xfrm>
          <a:prstGeom prst="line">
            <a:avLst/>
          </a:prstGeom>
          <a:ln w="25400">
            <a:solidFill>
              <a:srgbClr val="58D6BD"/>
            </a:solidFill>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4023360" y="2880360"/>
            <a:ext cx="3520440" cy="1234440"/>
          </a:xfrm>
          <a:prstGeom prst="rect">
            <a:avLst/>
          </a:prstGeom>
          <a:solidFill>
            <a:srgbClr val="1A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023360" y="2880360"/>
            <a:ext cx="32004" cy="1234440"/>
          </a:xfrm>
          <a:prstGeom prst="rect">
            <a:avLst/>
          </a:prstGeom>
          <a:solidFill>
            <a:srgbClr val="58D6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187952" y="3017520"/>
            <a:ext cx="3191256" cy="411480"/>
          </a:xfrm>
          <a:prstGeom prst="rect">
            <a:avLst/>
          </a:prstGeom>
          <a:noFill/>
        </p:spPr>
        <p:txBody>
          <a:bodyPr wrap="square" lIns="0" rIns="0" tIns="0" bIns="0">
            <a:spAutoFit/>
          </a:bodyPr>
          <a:lstStyle/>
          <a:p>
            <a:pPr>
              <a:defRPr sz="1800" b="1">
                <a:solidFill>
                  <a:srgbClr val="58D6BD"/>
                </a:solidFill>
                <a:latin typeface="맑은 고딕"/>
              </a:defRPr>
            </a:pPr>
            <a:r>
              <a:t>EVM 실행 환경</a:t>
            </a:r>
          </a:p>
        </p:txBody>
      </p:sp>
      <p:sp>
        <p:nvSpPr>
          <p:cNvPr id="17" name="TextBox 16"/>
          <p:cNvSpPr txBox="1"/>
          <p:nvPr/>
        </p:nvSpPr>
        <p:spPr>
          <a:xfrm>
            <a:off x="4187952" y="3520439"/>
            <a:ext cx="3191256" cy="566928"/>
          </a:xfrm>
          <a:prstGeom prst="rect">
            <a:avLst/>
          </a:prstGeom>
          <a:noFill/>
        </p:spPr>
        <p:txBody>
          <a:bodyPr wrap="square" lIns="0" rIns="0" tIns="0" bIns="0">
            <a:spAutoFit/>
          </a:bodyPr>
          <a:lstStyle/>
          <a:p>
            <a:pPr>
              <a:defRPr sz="1500" b="0">
                <a:solidFill>
                  <a:srgbClr val="F3F6FA"/>
                </a:solidFill>
                <a:latin typeface="맑은 고딕"/>
              </a:defRPr>
            </a:pPr>
            <a:r>
              <a:t>등록 프록시 · 지급 구현체</a:t>
            </a:r>
          </a:p>
        </p:txBody>
      </p:sp>
      <p:cxnSp>
        <p:nvCxnSpPr>
          <p:cNvPr id="18" name="Connector 17"/>
          <p:cNvCxnSpPr/>
          <p:nvPr/>
        </p:nvCxnSpPr>
        <p:spPr>
          <a:xfrm>
            <a:off x="7543800" y="3474720"/>
            <a:ext cx="640079" cy="0"/>
          </a:xfrm>
          <a:prstGeom prst="line">
            <a:avLst/>
          </a:prstGeom>
          <a:ln w="25400">
            <a:solidFill>
              <a:srgbClr val="58D6B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8079560" y="3474720"/>
            <a:ext cx="104319" cy="56990"/>
          </a:xfrm>
          <a:prstGeom prst="line">
            <a:avLst/>
          </a:prstGeom>
          <a:ln w="25400">
            <a:solidFill>
              <a:srgbClr val="58D6B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8079560" y="3417729"/>
            <a:ext cx="104319" cy="56991"/>
          </a:xfrm>
          <a:prstGeom prst="line">
            <a:avLst/>
          </a:prstGeom>
          <a:ln w="25400">
            <a:solidFill>
              <a:srgbClr val="58D6BD"/>
            </a:solidFill>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8229600" y="2880360"/>
            <a:ext cx="3200400" cy="1234440"/>
          </a:xfrm>
          <a:prstGeom prst="rect">
            <a:avLst/>
          </a:prstGeom>
          <a:solidFill>
            <a:srgbClr val="1A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229600" y="2880360"/>
            <a:ext cx="32004" cy="1234440"/>
          </a:xfrm>
          <a:prstGeom prst="rect">
            <a:avLst/>
          </a:prstGeom>
          <a:solidFill>
            <a:srgbClr val="58D6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94192" y="3017520"/>
            <a:ext cx="2871216" cy="411480"/>
          </a:xfrm>
          <a:prstGeom prst="rect">
            <a:avLst/>
          </a:prstGeom>
          <a:noFill/>
        </p:spPr>
        <p:txBody>
          <a:bodyPr wrap="square" lIns="0" rIns="0" tIns="0" bIns="0">
            <a:spAutoFit/>
          </a:bodyPr>
          <a:lstStyle/>
          <a:p>
            <a:pPr>
              <a:defRPr sz="1800" b="1">
                <a:solidFill>
                  <a:srgbClr val="58D6BD"/>
                </a:solidFill>
                <a:latin typeface="맑은 고딕"/>
              </a:defRPr>
            </a:pPr>
            <a:r>
              <a:t>프리컴파일 인터페이스</a:t>
            </a:r>
          </a:p>
        </p:txBody>
      </p:sp>
      <p:sp>
        <p:nvSpPr>
          <p:cNvPr id="24" name="TextBox 23"/>
          <p:cNvSpPr txBox="1"/>
          <p:nvPr/>
        </p:nvSpPr>
        <p:spPr>
          <a:xfrm>
            <a:off x="8394192" y="3520439"/>
            <a:ext cx="2871216" cy="566928"/>
          </a:xfrm>
          <a:prstGeom prst="rect">
            <a:avLst/>
          </a:prstGeom>
          <a:noFill/>
        </p:spPr>
        <p:txBody>
          <a:bodyPr wrap="square" lIns="0" rIns="0" tIns="0" bIns="0">
            <a:spAutoFit/>
          </a:bodyPr>
          <a:lstStyle/>
          <a:p>
            <a:pPr>
              <a:defRPr sz="1500" b="0">
                <a:solidFill>
                  <a:srgbClr val="F3F6FA"/>
                </a:solidFill>
                <a:latin typeface="맑은 고딕"/>
              </a:defRPr>
            </a:pPr>
            <a:r>
              <a:t>PCL · EAS · Privacy</a:t>
            </a:r>
          </a:p>
        </p:txBody>
      </p:sp>
      <p:sp>
        <p:nvSpPr>
          <p:cNvPr id="25" name="Rectangle 24"/>
          <p:cNvSpPr/>
          <p:nvPr/>
        </p:nvSpPr>
        <p:spPr>
          <a:xfrm>
            <a:off x="4023360" y="4709160"/>
            <a:ext cx="7406640" cy="960120"/>
          </a:xfrm>
          <a:prstGeom prst="rect">
            <a:avLst/>
          </a:prstGeom>
          <a:solidFill>
            <a:srgbClr val="1A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251960" y="5010912"/>
            <a:ext cx="6949440" cy="411480"/>
          </a:xfrm>
          <a:prstGeom prst="rect">
            <a:avLst/>
          </a:prstGeom>
          <a:noFill/>
        </p:spPr>
        <p:txBody>
          <a:bodyPr wrap="square" lIns="0" rIns="0" tIns="0" bIns="0">
            <a:spAutoFit/>
          </a:bodyPr>
          <a:lstStyle/>
          <a:p>
            <a:pPr>
              <a:defRPr sz="1900" b="1">
                <a:solidFill>
                  <a:srgbClr val="58D6BD"/>
                </a:solidFill>
                <a:latin typeface="맑은 고딕"/>
              </a:defRPr>
            </a:pPr>
            <a:r>
              <a:t>Cosmos SDK 기반 체인 · 네이티브 모듈과 상태</a:t>
            </a:r>
          </a:p>
        </p:txBody>
      </p:sp>
      <p:cxnSp>
        <p:nvCxnSpPr>
          <p:cNvPr id="27" name="Connector 26"/>
          <p:cNvCxnSpPr/>
          <p:nvPr/>
        </p:nvCxnSpPr>
        <p:spPr>
          <a:xfrm>
            <a:off x="5779008" y="4114800"/>
            <a:ext cx="0" cy="530352"/>
          </a:xfrm>
          <a:prstGeom prst="line">
            <a:avLst/>
          </a:prstGeom>
          <a:ln w="25400">
            <a:solidFill>
              <a:srgbClr val="58D6B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5722017" y="4540832"/>
            <a:ext cx="56991" cy="104320"/>
          </a:xfrm>
          <a:prstGeom prst="line">
            <a:avLst/>
          </a:prstGeom>
          <a:ln w="25400">
            <a:solidFill>
              <a:srgbClr val="58D6BD"/>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a:off x="5779008" y="4540832"/>
            <a:ext cx="56990" cy="104320"/>
          </a:xfrm>
          <a:prstGeom prst="line">
            <a:avLst/>
          </a:prstGeom>
          <a:ln w="25400">
            <a:solidFill>
              <a:srgbClr val="58D6BD"/>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9829800" y="4114800"/>
            <a:ext cx="0" cy="530352"/>
          </a:xfrm>
          <a:prstGeom prst="line">
            <a:avLst/>
          </a:prstGeom>
          <a:ln w="25400">
            <a:solidFill>
              <a:srgbClr val="58D6BD"/>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9772809" y="4540832"/>
            <a:ext cx="56991" cy="104320"/>
          </a:xfrm>
          <a:prstGeom prst="line">
            <a:avLst/>
          </a:prstGeom>
          <a:ln w="25400">
            <a:solidFill>
              <a:srgbClr val="58D6BD"/>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a:off x="9829800" y="4540832"/>
            <a:ext cx="56990" cy="104320"/>
          </a:xfrm>
          <a:prstGeom prst="line">
            <a:avLst/>
          </a:prstGeom>
          <a:ln w="25400">
            <a:solidFill>
              <a:srgbClr val="58D6BD"/>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6519672"/>
            <a:ext cx="9144000" cy="182880"/>
          </a:xfrm>
          <a:prstGeom prst="rect">
            <a:avLst/>
          </a:prstGeom>
          <a:noFill/>
        </p:spPr>
        <p:txBody>
          <a:bodyPr wrap="square" lIns="0" rIns="0" tIns="0" bIns="0">
            <a:spAutoFit/>
          </a:bodyPr>
          <a:lstStyle/>
          <a:p>
            <a:pPr>
              <a:defRPr sz="1000" b="0">
                <a:solidFill>
                  <a:srgbClr val="A9BAD0"/>
                </a:solidFill>
                <a:latin typeface="맑은 고딕"/>
              </a:defRPr>
            </a:pPr>
            <a:r>
              <a:t>MAROO WORKSHOP / 설명 10장 · 실습은 웹사이트</a:t>
            </a:r>
          </a:p>
        </p:txBody>
      </p:sp>
      <p:sp>
        <p:nvSpPr>
          <p:cNvPr id="34" name="TextBox 33"/>
          <p:cNvSpPr txBox="1"/>
          <p:nvPr/>
        </p:nvSpPr>
        <p:spPr>
          <a:xfrm>
            <a:off x="10698480" y="6519672"/>
            <a:ext cx="914400" cy="182880"/>
          </a:xfrm>
          <a:prstGeom prst="rect">
            <a:avLst/>
          </a:prstGeom>
          <a:noFill/>
        </p:spPr>
        <p:txBody>
          <a:bodyPr wrap="square" lIns="0" rIns="0" tIns="0" bIns="0">
            <a:spAutoFit/>
          </a:bodyPr>
          <a:lstStyle/>
          <a:p>
            <a:pPr>
              <a:defRPr sz="1000" b="0">
                <a:solidFill>
                  <a:srgbClr val="A9BAD0"/>
                </a:solidFill>
                <a:latin typeface="맑은 고딕"/>
              </a:defRPr>
            </a:pPr>
            <a:r>
              <a:t>03 / 10</a:t>
            </a:r>
          </a:p>
        </p:txBody>
      </p:sp>
      <p:sp>
        <p:nvSpPr>
          <p:cNvPr id="35" name="Rectangle 34"/>
          <p:cNvSpPr/>
          <p:nvPr/>
        </p:nvSpPr>
        <p:spPr>
          <a:xfrm>
            <a:off x="640080" y="6382512"/>
            <a:ext cx="10899648" cy="13716"/>
          </a:xfrm>
          <a:prstGeom prst="rect">
            <a:avLst/>
          </a:prstGeom>
          <a:solidFill>
            <a:srgbClr val="1A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58368" y="6080760"/>
            <a:ext cx="1828800" cy="228600"/>
          </a:xfrm>
          <a:prstGeom prst="rect">
            <a:avLst/>
          </a:prstGeom>
          <a:noFill/>
        </p:spPr>
        <p:txBody>
          <a:bodyPr wrap="square" lIns="0" rIns="0" tIns="0" bIns="0">
            <a:spAutoFit/>
          </a:bodyPr>
          <a:lstStyle/>
          <a:p>
            <a:pPr>
              <a:defRPr sz="1100" b="0">
                <a:solidFill>
                  <a:srgbClr val="A9BAD0"/>
                </a:solidFill>
                <a:latin typeface="맑은 고딕"/>
              </a:defRPr>
            </a:pPr>
            <a:r>
              <a:rPr>
                <a:hlinkClick r:id="rId2"/>
              </a:rPr>
              <a:t>참고자료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8229600" cy="274320"/>
          </a:xfrm>
          <a:prstGeom prst="rect">
            <a:avLst/>
          </a:prstGeom>
          <a:noFill/>
        </p:spPr>
        <p:txBody>
          <a:bodyPr wrap="square" lIns="0" rIns="0" tIns="0" bIns="0">
            <a:spAutoFit/>
          </a:bodyPr>
          <a:lstStyle/>
          <a:p>
            <a:pPr>
              <a:defRPr sz="1200" b="1">
                <a:solidFill>
                  <a:srgbClr val="58D6BD"/>
                </a:solidFill>
                <a:latin typeface="맑은 고딕"/>
              </a:defRPr>
            </a:pPr>
            <a:r>
              <a:t>PCL CALL FLOW</a:t>
            </a:r>
          </a:p>
        </p:txBody>
      </p:sp>
      <p:sp>
        <p:nvSpPr>
          <p:cNvPr id="4" name="TextBox 3"/>
          <p:cNvSpPr txBox="1"/>
          <p:nvPr/>
        </p:nvSpPr>
        <p:spPr>
          <a:xfrm>
            <a:off x="9784080" y="411480"/>
            <a:ext cx="1828800" cy="274320"/>
          </a:xfrm>
          <a:prstGeom prst="rect">
            <a:avLst/>
          </a:prstGeom>
          <a:noFill/>
        </p:spPr>
        <p:txBody>
          <a:bodyPr wrap="square" lIns="0" rIns="0" tIns="0" bIns="0">
            <a:spAutoFit/>
          </a:bodyPr>
          <a:lstStyle/>
          <a:p>
            <a:pPr>
              <a:defRPr sz="1200" b="0">
                <a:solidFill>
                  <a:srgbClr val="A9BAD0"/>
                </a:solidFill>
                <a:latin typeface="맑은 고딕"/>
              </a:defRPr>
            </a:pPr>
            <a:r>
              <a:t>12–15 MIN</a:t>
            </a:r>
          </a:p>
        </p:txBody>
      </p:sp>
      <p:sp>
        <p:nvSpPr>
          <p:cNvPr id="5" name="TextBox 4"/>
          <p:cNvSpPr txBox="1"/>
          <p:nvPr/>
        </p:nvSpPr>
        <p:spPr>
          <a:xfrm>
            <a:off x="640080" y="932688"/>
            <a:ext cx="10927080" cy="1005840"/>
          </a:xfrm>
          <a:prstGeom prst="rect">
            <a:avLst/>
          </a:prstGeom>
          <a:noFill/>
        </p:spPr>
        <p:txBody>
          <a:bodyPr wrap="square" lIns="0" rIns="0" tIns="0" bIns="0">
            <a:spAutoFit/>
          </a:bodyPr>
          <a:lstStyle/>
          <a:p>
            <a:pPr>
              <a:defRPr sz="3000" b="1">
                <a:solidFill>
                  <a:srgbClr val="F3F6FA"/>
                </a:solidFill>
                <a:latin typeface="맑은 고딕"/>
              </a:defRPr>
            </a:pPr>
            <a:r>
              <a:t>사용자는 프록시를 호출합니다</a:t>
            </a:r>
          </a:p>
        </p:txBody>
      </p:sp>
      <p:sp>
        <p:nvSpPr>
          <p:cNvPr id="6" name="TextBox 5"/>
          <p:cNvSpPr txBox="1"/>
          <p:nvPr/>
        </p:nvSpPr>
        <p:spPr>
          <a:xfrm>
            <a:off x="658368" y="1938528"/>
            <a:ext cx="10881360" cy="548640"/>
          </a:xfrm>
          <a:prstGeom prst="rect">
            <a:avLst/>
          </a:prstGeom>
          <a:noFill/>
        </p:spPr>
        <p:txBody>
          <a:bodyPr wrap="square" lIns="0" rIns="0" tIns="0" bIns="0">
            <a:spAutoFit/>
          </a:bodyPr>
          <a:lstStyle/>
          <a:p>
            <a:pPr>
              <a:defRPr sz="1800" b="0">
                <a:solidFill>
                  <a:srgbClr val="A9BAD0"/>
                </a:solidFill>
                <a:latin typeface="맑은 고딕"/>
              </a:defRPr>
            </a:pPr>
            <a:r>
              <a:t>프록시가 구현체 호출 전후로 정책 훅을 실행합니다</a:t>
            </a:r>
          </a:p>
        </p:txBody>
      </p:sp>
      <p:sp>
        <p:nvSpPr>
          <p:cNvPr id="7" name="Rectangle 6"/>
          <p:cNvSpPr/>
          <p:nvPr/>
        </p:nvSpPr>
        <p:spPr>
          <a:xfrm>
            <a:off x="731520" y="2743200"/>
            <a:ext cx="2743200" cy="1188720"/>
          </a:xfrm>
          <a:prstGeom prst="rect">
            <a:avLst/>
          </a:prstGeom>
          <a:solidFill>
            <a:srgbClr val="1A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2743200"/>
            <a:ext cx="32004" cy="1188720"/>
          </a:xfrm>
          <a:prstGeom prst="rect">
            <a:avLst/>
          </a:prstGeom>
          <a:solidFill>
            <a:srgbClr val="58D6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2880360"/>
            <a:ext cx="2414016" cy="411480"/>
          </a:xfrm>
          <a:prstGeom prst="rect">
            <a:avLst/>
          </a:prstGeom>
          <a:noFill/>
        </p:spPr>
        <p:txBody>
          <a:bodyPr wrap="square" lIns="0" rIns="0" tIns="0" bIns="0">
            <a:spAutoFit/>
          </a:bodyPr>
          <a:lstStyle/>
          <a:p>
            <a:pPr>
              <a:defRPr sz="1800" b="1">
                <a:solidFill>
                  <a:srgbClr val="58D6BD"/>
                </a:solidFill>
                <a:latin typeface="맑은 고딕"/>
              </a:defRPr>
            </a:pPr>
            <a:r>
              <a:t>지급 계정</a:t>
            </a:r>
          </a:p>
        </p:txBody>
      </p:sp>
      <p:sp>
        <p:nvSpPr>
          <p:cNvPr id="10" name="TextBox 9"/>
          <p:cNvSpPr txBox="1"/>
          <p:nvPr/>
        </p:nvSpPr>
        <p:spPr>
          <a:xfrm>
            <a:off x="896112" y="3383280"/>
            <a:ext cx="2414016" cy="521208"/>
          </a:xfrm>
          <a:prstGeom prst="rect">
            <a:avLst/>
          </a:prstGeom>
          <a:noFill/>
        </p:spPr>
        <p:txBody>
          <a:bodyPr wrap="square" lIns="0" rIns="0" tIns="0" bIns="0">
            <a:spAutoFit/>
          </a:bodyPr>
          <a:lstStyle/>
          <a:p>
            <a:pPr>
              <a:defRPr sz="1500" b="0">
                <a:solidFill>
                  <a:srgbClr val="F3F6FA"/>
                </a:solidFill>
                <a:latin typeface="맑은 고딕"/>
              </a:defRPr>
            </a:pPr>
            <a:r>
              <a:t>pay(recipient) + value</a:t>
            </a:r>
          </a:p>
        </p:txBody>
      </p:sp>
      <p:sp>
        <p:nvSpPr>
          <p:cNvPr id="11" name="Rectangle 10"/>
          <p:cNvSpPr/>
          <p:nvPr/>
        </p:nvSpPr>
        <p:spPr>
          <a:xfrm>
            <a:off x="4572000" y="2743200"/>
            <a:ext cx="3063240" cy="1188720"/>
          </a:xfrm>
          <a:prstGeom prst="rect">
            <a:avLst/>
          </a:prstGeom>
          <a:solidFill>
            <a:srgbClr val="1A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2743200"/>
            <a:ext cx="32004" cy="1188720"/>
          </a:xfrm>
          <a:prstGeom prst="rect">
            <a:avLst/>
          </a:prstGeom>
          <a:solidFill>
            <a:srgbClr val="58D6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36592" y="2880360"/>
            <a:ext cx="2734056" cy="411480"/>
          </a:xfrm>
          <a:prstGeom prst="rect">
            <a:avLst/>
          </a:prstGeom>
          <a:noFill/>
        </p:spPr>
        <p:txBody>
          <a:bodyPr wrap="square" lIns="0" rIns="0" tIns="0" bIns="0">
            <a:spAutoFit/>
          </a:bodyPr>
          <a:lstStyle/>
          <a:p>
            <a:pPr>
              <a:defRPr sz="1800" b="1">
                <a:solidFill>
                  <a:srgbClr val="58D6BD"/>
                </a:solidFill>
                <a:latin typeface="맑은 고딕"/>
              </a:defRPr>
            </a:pPr>
            <a:r>
              <a:t>PCL 등록 프록시</a:t>
            </a:r>
          </a:p>
        </p:txBody>
      </p:sp>
      <p:sp>
        <p:nvSpPr>
          <p:cNvPr id="14" name="TextBox 13"/>
          <p:cNvSpPr txBox="1"/>
          <p:nvPr/>
        </p:nvSpPr>
        <p:spPr>
          <a:xfrm>
            <a:off x="4736592" y="3383280"/>
            <a:ext cx="2734056" cy="521208"/>
          </a:xfrm>
          <a:prstGeom prst="rect">
            <a:avLst/>
          </a:prstGeom>
          <a:noFill/>
        </p:spPr>
        <p:txBody>
          <a:bodyPr wrap="square" lIns="0" rIns="0" tIns="0" bIns="0">
            <a:spAutoFit/>
          </a:bodyPr>
          <a:lstStyle/>
          <a:p>
            <a:pPr>
              <a:defRPr sz="1500" b="0">
                <a:solidFill>
                  <a:srgbClr val="F3F6FA"/>
                </a:solidFill>
                <a:latin typeface="맑은 고딕"/>
              </a:defRPr>
            </a:pPr>
            <a:r>
              <a:t>사용자가 호출하는 주소</a:t>
            </a:r>
          </a:p>
        </p:txBody>
      </p:sp>
      <p:sp>
        <p:nvSpPr>
          <p:cNvPr id="15" name="Rectangle 14"/>
          <p:cNvSpPr/>
          <p:nvPr/>
        </p:nvSpPr>
        <p:spPr>
          <a:xfrm>
            <a:off x="8641080" y="2743200"/>
            <a:ext cx="2788920" cy="1188720"/>
          </a:xfrm>
          <a:prstGeom prst="rect">
            <a:avLst/>
          </a:prstGeom>
          <a:solidFill>
            <a:srgbClr val="1A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641080" y="2743200"/>
            <a:ext cx="32004" cy="1188720"/>
          </a:xfrm>
          <a:prstGeom prst="rect">
            <a:avLst/>
          </a:prstGeom>
          <a:solidFill>
            <a:srgbClr val="58D6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805672" y="2880360"/>
            <a:ext cx="2459736" cy="411480"/>
          </a:xfrm>
          <a:prstGeom prst="rect">
            <a:avLst/>
          </a:prstGeom>
          <a:noFill/>
        </p:spPr>
        <p:txBody>
          <a:bodyPr wrap="square" lIns="0" rIns="0" tIns="0" bIns="0">
            <a:spAutoFit/>
          </a:bodyPr>
          <a:lstStyle/>
          <a:p>
            <a:pPr>
              <a:defRPr sz="1800" b="1">
                <a:solidFill>
                  <a:srgbClr val="58D6BD"/>
                </a:solidFill>
                <a:latin typeface="맑은 고딕"/>
              </a:defRPr>
            </a:pPr>
            <a:r>
              <a:t>지급 구현체</a:t>
            </a:r>
          </a:p>
        </p:txBody>
      </p:sp>
      <p:sp>
        <p:nvSpPr>
          <p:cNvPr id="18" name="TextBox 17"/>
          <p:cNvSpPr txBox="1"/>
          <p:nvPr/>
        </p:nvSpPr>
        <p:spPr>
          <a:xfrm>
            <a:off x="8805672" y="3383280"/>
            <a:ext cx="2459736" cy="521208"/>
          </a:xfrm>
          <a:prstGeom prst="rect">
            <a:avLst/>
          </a:prstGeom>
          <a:noFill/>
        </p:spPr>
        <p:txBody>
          <a:bodyPr wrap="square" lIns="0" rIns="0" tIns="0" bIns="0">
            <a:spAutoFit/>
          </a:bodyPr>
          <a:lstStyle/>
          <a:p>
            <a:pPr>
              <a:defRPr sz="1500" b="0">
                <a:solidFill>
                  <a:srgbClr val="F3F6FA"/>
                </a:solidFill>
                <a:latin typeface="맑은 고딕"/>
              </a:defRPr>
            </a:pPr>
            <a:r>
              <a:t>실제 지급 로직</a:t>
            </a:r>
          </a:p>
        </p:txBody>
      </p:sp>
      <p:cxnSp>
        <p:nvCxnSpPr>
          <p:cNvPr id="19" name="Connector 18"/>
          <p:cNvCxnSpPr/>
          <p:nvPr/>
        </p:nvCxnSpPr>
        <p:spPr>
          <a:xfrm>
            <a:off x="3474720" y="3291840"/>
            <a:ext cx="1051560" cy="0"/>
          </a:xfrm>
          <a:prstGeom prst="line">
            <a:avLst/>
          </a:prstGeom>
          <a:ln w="25400">
            <a:solidFill>
              <a:srgbClr val="58D6B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4421960" y="3291840"/>
            <a:ext cx="104320" cy="56990"/>
          </a:xfrm>
          <a:prstGeom prst="line">
            <a:avLst/>
          </a:prstGeom>
          <a:ln w="25400">
            <a:solidFill>
              <a:srgbClr val="58D6B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421960" y="3234849"/>
            <a:ext cx="104320" cy="56991"/>
          </a:xfrm>
          <a:prstGeom prst="line">
            <a:avLst/>
          </a:prstGeom>
          <a:ln w="25400">
            <a:solidFill>
              <a:srgbClr val="58D6B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7635240" y="3291840"/>
            <a:ext cx="960120" cy="0"/>
          </a:xfrm>
          <a:prstGeom prst="line">
            <a:avLst/>
          </a:prstGeom>
          <a:ln w="25400">
            <a:solidFill>
              <a:srgbClr val="58D6B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8491040" y="3291840"/>
            <a:ext cx="104320" cy="56990"/>
          </a:xfrm>
          <a:prstGeom prst="line">
            <a:avLst/>
          </a:prstGeom>
          <a:ln w="25400">
            <a:solidFill>
              <a:srgbClr val="58D6B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8491040" y="3234849"/>
            <a:ext cx="104320" cy="56991"/>
          </a:xfrm>
          <a:prstGeom prst="line">
            <a:avLst/>
          </a:prstGeom>
          <a:ln w="25400">
            <a:solidFill>
              <a:srgbClr val="58D6BD"/>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7680960" y="2798064"/>
            <a:ext cx="1051560" cy="457200"/>
          </a:xfrm>
          <a:prstGeom prst="rect">
            <a:avLst/>
          </a:prstGeom>
          <a:noFill/>
        </p:spPr>
        <p:txBody>
          <a:bodyPr wrap="square" lIns="0" rIns="0" tIns="0" bIns="0">
            <a:spAutoFit/>
          </a:bodyPr>
          <a:lstStyle/>
          <a:p>
            <a:pPr>
              <a:defRPr sz="1100" b="0">
                <a:solidFill>
                  <a:srgbClr val="A9BAD0"/>
                </a:solidFill>
                <a:latin typeface="맑은 고딕"/>
              </a:defRPr>
            </a:pPr>
            <a:r>
              <a:t>② delegatecall</a:t>
            </a:r>
          </a:p>
        </p:txBody>
      </p:sp>
      <p:sp>
        <p:nvSpPr>
          <p:cNvPr id="26" name="Rectangle 25"/>
          <p:cNvSpPr/>
          <p:nvPr/>
        </p:nvSpPr>
        <p:spPr>
          <a:xfrm>
            <a:off x="4251960" y="4572000"/>
            <a:ext cx="4709160" cy="1371600"/>
          </a:xfrm>
          <a:prstGeom prst="rect">
            <a:avLst/>
          </a:prstGeom>
          <a:solidFill>
            <a:srgbClr val="1A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251960" y="4572000"/>
            <a:ext cx="32004" cy="1371600"/>
          </a:xfrm>
          <a:prstGeom prst="rect">
            <a:avLst/>
          </a:prstGeom>
          <a:solidFill>
            <a:srgbClr val="58D6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16552" y="4709160"/>
            <a:ext cx="4379976" cy="411480"/>
          </a:xfrm>
          <a:prstGeom prst="rect">
            <a:avLst/>
          </a:prstGeom>
          <a:noFill/>
        </p:spPr>
        <p:txBody>
          <a:bodyPr wrap="square" lIns="0" rIns="0" tIns="0" bIns="0">
            <a:spAutoFit/>
          </a:bodyPr>
          <a:lstStyle/>
          <a:p>
            <a:pPr>
              <a:defRPr sz="1800" b="1">
                <a:solidFill>
                  <a:srgbClr val="58D6BD"/>
                </a:solidFill>
                <a:latin typeface="맑은 고딕"/>
              </a:defRPr>
            </a:pPr>
            <a:r>
              <a:t>PCL 프리컴파일</a:t>
            </a:r>
          </a:p>
        </p:txBody>
      </p:sp>
      <p:sp>
        <p:nvSpPr>
          <p:cNvPr id="29" name="TextBox 28"/>
          <p:cNvSpPr txBox="1"/>
          <p:nvPr/>
        </p:nvSpPr>
        <p:spPr>
          <a:xfrm>
            <a:off x="4416552" y="5212080"/>
            <a:ext cx="4379976" cy="704088"/>
          </a:xfrm>
          <a:prstGeom prst="rect">
            <a:avLst/>
          </a:prstGeom>
          <a:noFill/>
        </p:spPr>
        <p:txBody>
          <a:bodyPr wrap="square" lIns="0" rIns="0" tIns="0" bIns="0">
            <a:spAutoFit/>
          </a:bodyPr>
          <a:lstStyle/>
          <a:p>
            <a:pPr>
              <a:defRPr sz="1500" b="0">
                <a:solidFill>
                  <a:srgbClr val="F3F6FA"/>
                </a:solidFill>
                <a:latin typeface="맑은 고딕"/>
              </a:defRPr>
            </a:pPr>
            <a:r>
              <a:t>① preCall → 조건 검사</a:t>
            </a:r>
          </a:p>
          <a:p>
            <a:pPr>
              <a:defRPr sz="1500" b="0">
                <a:solidFill>
                  <a:srgbClr val="F3F6FA"/>
                </a:solidFill>
                <a:latin typeface="맑은 고딕"/>
              </a:defRPr>
            </a:pPr>
            <a:r>
              <a:t>③ postCall → 회계·완료 검사</a:t>
            </a:r>
          </a:p>
        </p:txBody>
      </p:sp>
      <p:cxnSp>
        <p:nvCxnSpPr>
          <p:cNvPr id="30" name="Connector 29"/>
          <p:cNvCxnSpPr/>
          <p:nvPr/>
        </p:nvCxnSpPr>
        <p:spPr>
          <a:xfrm>
            <a:off x="5212080" y="3931920"/>
            <a:ext cx="0" cy="585216"/>
          </a:xfrm>
          <a:prstGeom prst="line">
            <a:avLst/>
          </a:prstGeom>
          <a:ln w="25400">
            <a:solidFill>
              <a:srgbClr val="58D6BD"/>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5155089" y="4412816"/>
            <a:ext cx="56991" cy="104320"/>
          </a:xfrm>
          <a:prstGeom prst="line">
            <a:avLst/>
          </a:prstGeom>
          <a:ln w="25400">
            <a:solidFill>
              <a:srgbClr val="58D6BD"/>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a:off x="5212080" y="4412816"/>
            <a:ext cx="56990" cy="104320"/>
          </a:xfrm>
          <a:prstGeom prst="line">
            <a:avLst/>
          </a:prstGeom>
          <a:ln w="25400">
            <a:solidFill>
              <a:srgbClr val="58D6BD"/>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7132320" y="3931920"/>
            <a:ext cx="0" cy="585216"/>
          </a:xfrm>
          <a:prstGeom prst="line">
            <a:avLst/>
          </a:prstGeom>
          <a:ln w="25400">
            <a:solidFill>
              <a:srgbClr val="58D6BD"/>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7075329" y="4412816"/>
            <a:ext cx="56991" cy="104320"/>
          </a:xfrm>
          <a:prstGeom prst="line">
            <a:avLst/>
          </a:prstGeom>
          <a:ln w="25400">
            <a:solidFill>
              <a:srgbClr val="58D6BD"/>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a:off x="7132320" y="4412816"/>
            <a:ext cx="56990" cy="104320"/>
          </a:xfrm>
          <a:prstGeom prst="line">
            <a:avLst/>
          </a:prstGeom>
          <a:ln w="25400">
            <a:solidFill>
              <a:srgbClr val="58D6BD"/>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777240" y="4754880"/>
            <a:ext cx="3108960" cy="914400"/>
          </a:xfrm>
          <a:prstGeom prst="rect">
            <a:avLst/>
          </a:prstGeom>
          <a:noFill/>
        </p:spPr>
        <p:txBody>
          <a:bodyPr wrap="square" lIns="0" rIns="0" tIns="0" bIns="0">
            <a:spAutoFit/>
          </a:bodyPr>
          <a:lstStyle/>
          <a:p>
            <a:pPr>
              <a:defRPr sz="1700" b="0">
                <a:solidFill>
                  <a:srgbClr val="FFBD69"/>
                </a:solidFill>
                <a:latin typeface="맑은 고딕"/>
              </a:defRPr>
            </a:pPr>
            <a:r>
              <a:t>사전 검사 거절 → 실행 안 됨</a:t>
            </a:r>
          </a:p>
          <a:p>
            <a:pPr>
              <a:defRPr sz="1700" b="0">
                <a:solidFill>
                  <a:srgbClr val="FFBD69"/>
                </a:solidFill>
                <a:latin typeface="맑은 고딕"/>
              </a:defRPr>
            </a:pPr>
            <a:r>
              <a:t>사후 검사 거절 → 전체 롤백</a:t>
            </a:r>
          </a:p>
        </p:txBody>
      </p:sp>
      <p:sp>
        <p:nvSpPr>
          <p:cNvPr id="37" name="TextBox 36"/>
          <p:cNvSpPr txBox="1"/>
          <p:nvPr/>
        </p:nvSpPr>
        <p:spPr>
          <a:xfrm>
            <a:off x="640080" y="6519672"/>
            <a:ext cx="9144000" cy="182880"/>
          </a:xfrm>
          <a:prstGeom prst="rect">
            <a:avLst/>
          </a:prstGeom>
          <a:noFill/>
        </p:spPr>
        <p:txBody>
          <a:bodyPr wrap="square" lIns="0" rIns="0" tIns="0" bIns="0">
            <a:spAutoFit/>
          </a:bodyPr>
          <a:lstStyle/>
          <a:p>
            <a:pPr>
              <a:defRPr sz="1000" b="0">
                <a:solidFill>
                  <a:srgbClr val="A9BAD0"/>
                </a:solidFill>
                <a:latin typeface="맑은 고딕"/>
              </a:defRPr>
            </a:pPr>
            <a:r>
              <a:t>MAROO WORKSHOP / 설명 10장 · 실습은 웹사이트</a:t>
            </a:r>
          </a:p>
        </p:txBody>
      </p:sp>
      <p:sp>
        <p:nvSpPr>
          <p:cNvPr id="38" name="TextBox 37"/>
          <p:cNvSpPr txBox="1"/>
          <p:nvPr/>
        </p:nvSpPr>
        <p:spPr>
          <a:xfrm>
            <a:off x="10698480" y="6519672"/>
            <a:ext cx="914400" cy="182880"/>
          </a:xfrm>
          <a:prstGeom prst="rect">
            <a:avLst/>
          </a:prstGeom>
          <a:noFill/>
        </p:spPr>
        <p:txBody>
          <a:bodyPr wrap="square" lIns="0" rIns="0" tIns="0" bIns="0">
            <a:spAutoFit/>
          </a:bodyPr>
          <a:lstStyle/>
          <a:p>
            <a:pPr>
              <a:defRPr sz="1000" b="0">
                <a:solidFill>
                  <a:srgbClr val="A9BAD0"/>
                </a:solidFill>
                <a:latin typeface="맑은 고딕"/>
              </a:defRPr>
            </a:pPr>
            <a:r>
              <a:t>04 / 10</a:t>
            </a:r>
          </a:p>
        </p:txBody>
      </p:sp>
      <p:sp>
        <p:nvSpPr>
          <p:cNvPr id="39" name="Rectangle 38"/>
          <p:cNvSpPr/>
          <p:nvPr/>
        </p:nvSpPr>
        <p:spPr>
          <a:xfrm>
            <a:off x="640080" y="6382512"/>
            <a:ext cx="10899648" cy="13716"/>
          </a:xfrm>
          <a:prstGeom prst="rect">
            <a:avLst/>
          </a:prstGeom>
          <a:solidFill>
            <a:srgbClr val="1A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58368" y="6080760"/>
            <a:ext cx="1828800" cy="228600"/>
          </a:xfrm>
          <a:prstGeom prst="rect">
            <a:avLst/>
          </a:prstGeom>
          <a:noFill/>
        </p:spPr>
        <p:txBody>
          <a:bodyPr wrap="square" lIns="0" rIns="0" tIns="0" bIns="0">
            <a:spAutoFit/>
          </a:bodyPr>
          <a:lstStyle/>
          <a:p>
            <a:pPr>
              <a:defRPr sz="1100" b="0">
                <a:solidFill>
                  <a:srgbClr val="A9BAD0"/>
                </a:solidFill>
                <a:latin typeface="맑은 고딕"/>
              </a:defRPr>
            </a:pPr>
            <a:r>
              <a:rPr>
                <a:hlinkClick r:id="rId2"/>
              </a:rPr>
              <a:t>참고자료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8229600" cy="274320"/>
          </a:xfrm>
          <a:prstGeom prst="rect">
            <a:avLst/>
          </a:prstGeom>
          <a:noFill/>
        </p:spPr>
        <p:txBody>
          <a:bodyPr wrap="square" lIns="0" rIns="0" tIns="0" bIns="0">
            <a:spAutoFit/>
          </a:bodyPr>
          <a:lstStyle/>
          <a:p>
            <a:pPr>
              <a:defRPr sz="1200" b="1">
                <a:solidFill>
                  <a:srgbClr val="58D6BD"/>
                </a:solidFill>
                <a:latin typeface="맑은 고딕"/>
              </a:defRPr>
            </a:pPr>
            <a:r>
              <a:t>LIVE TESTNET / 실습 웹사이트 01–02</a:t>
            </a:r>
          </a:p>
        </p:txBody>
      </p:sp>
      <p:sp>
        <p:nvSpPr>
          <p:cNvPr id="4" name="TextBox 3"/>
          <p:cNvSpPr txBox="1"/>
          <p:nvPr/>
        </p:nvSpPr>
        <p:spPr>
          <a:xfrm>
            <a:off x="9784080" y="411480"/>
            <a:ext cx="1828800" cy="274320"/>
          </a:xfrm>
          <a:prstGeom prst="rect">
            <a:avLst/>
          </a:prstGeom>
          <a:noFill/>
        </p:spPr>
        <p:txBody>
          <a:bodyPr wrap="square" lIns="0" rIns="0" tIns="0" bIns="0">
            <a:spAutoFit/>
          </a:bodyPr>
          <a:lstStyle/>
          <a:p>
            <a:pPr>
              <a:defRPr sz="1200" b="0">
                <a:solidFill>
                  <a:srgbClr val="A9BAD0"/>
                </a:solidFill>
                <a:latin typeface="맑은 고딕"/>
              </a:defRPr>
            </a:pPr>
            <a:r>
              <a:t>15–34 MIN</a:t>
            </a:r>
          </a:p>
        </p:txBody>
      </p:sp>
      <p:sp>
        <p:nvSpPr>
          <p:cNvPr id="5" name="TextBox 4"/>
          <p:cNvSpPr txBox="1"/>
          <p:nvPr/>
        </p:nvSpPr>
        <p:spPr>
          <a:xfrm>
            <a:off x="640080" y="932688"/>
            <a:ext cx="10927080" cy="1005840"/>
          </a:xfrm>
          <a:prstGeom prst="rect">
            <a:avLst/>
          </a:prstGeom>
          <a:noFill/>
        </p:spPr>
        <p:txBody>
          <a:bodyPr wrap="square" lIns="0" rIns="0" tIns="0" bIns="0">
            <a:spAutoFit/>
          </a:bodyPr>
          <a:lstStyle/>
          <a:p>
            <a:pPr>
              <a:defRPr sz="3000" b="1">
                <a:solidFill>
                  <a:srgbClr val="F3F6FA"/>
                </a:solidFill>
                <a:latin typeface="맑은 고딕"/>
              </a:defRPr>
            </a:pPr>
            <a:r>
              <a:t>실습 1 · 정책과 자격 상태로 지급을 통제합니다</a:t>
            </a:r>
          </a:p>
        </p:txBody>
      </p:sp>
      <p:sp>
        <p:nvSpPr>
          <p:cNvPr id="6" name="TextBox 5"/>
          <p:cNvSpPr txBox="1"/>
          <p:nvPr/>
        </p:nvSpPr>
        <p:spPr>
          <a:xfrm>
            <a:off x="658368" y="1938528"/>
            <a:ext cx="10881360" cy="548640"/>
          </a:xfrm>
          <a:prstGeom prst="rect">
            <a:avLst/>
          </a:prstGeom>
          <a:noFill/>
        </p:spPr>
        <p:txBody>
          <a:bodyPr wrap="square" lIns="0" rIns="0" tIns="0" bIns="0">
            <a:spAutoFit/>
          </a:bodyPr>
          <a:lstStyle/>
          <a:p>
            <a:pPr>
              <a:defRPr sz="1800" b="0">
                <a:solidFill>
                  <a:srgbClr val="A9BAD0"/>
                </a:solidFill>
                <a:latin typeface="맑은 고딕"/>
              </a:defRPr>
            </a:pPr>
            <a:r>
              <a:t>Denylist 허용·차단을 먼저 확인하고 EAS 수명주기를 실행합니다</a:t>
            </a:r>
          </a:p>
        </p:txBody>
      </p:sp>
      <p:sp>
        <p:nvSpPr>
          <p:cNvPr id="7" name="Rectangle 6"/>
          <p:cNvSpPr/>
          <p:nvPr/>
        </p:nvSpPr>
        <p:spPr>
          <a:xfrm>
            <a:off x="640080" y="2743200"/>
            <a:ext cx="3511296" cy="2011680"/>
          </a:xfrm>
          <a:prstGeom prst="rect">
            <a:avLst/>
          </a:prstGeom>
          <a:solidFill>
            <a:srgbClr val="1A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2743200"/>
            <a:ext cx="32004" cy="2011680"/>
          </a:xfrm>
          <a:prstGeom prst="rect">
            <a:avLst/>
          </a:prstGeom>
          <a:solidFill>
            <a:srgbClr val="58D6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1" y="2880360"/>
            <a:ext cx="3182112" cy="411480"/>
          </a:xfrm>
          <a:prstGeom prst="rect">
            <a:avLst/>
          </a:prstGeom>
          <a:noFill/>
        </p:spPr>
        <p:txBody>
          <a:bodyPr wrap="square" lIns="0" rIns="0" tIns="0" bIns="0">
            <a:spAutoFit/>
          </a:bodyPr>
          <a:lstStyle/>
          <a:p>
            <a:pPr>
              <a:defRPr sz="1800" b="1">
                <a:solidFill>
                  <a:srgbClr val="58D6BD"/>
                </a:solidFill>
                <a:latin typeface="맑은 고딕"/>
              </a:defRPr>
            </a:pPr>
            <a:r>
              <a:t>자격 없음</a:t>
            </a:r>
          </a:p>
        </p:txBody>
      </p:sp>
      <p:sp>
        <p:nvSpPr>
          <p:cNvPr id="10" name="TextBox 9"/>
          <p:cNvSpPr txBox="1"/>
          <p:nvPr/>
        </p:nvSpPr>
        <p:spPr>
          <a:xfrm>
            <a:off x="804671" y="3383280"/>
            <a:ext cx="3182112" cy="1344168"/>
          </a:xfrm>
          <a:prstGeom prst="rect">
            <a:avLst/>
          </a:prstGeom>
          <a:noFill/>
        </p:spPr>
        <p:txBody>
          <a:bodyPr wrap="square" lIns="0" rIns="0" tIns="0" bIns="0">
            <a:spAutoFit/>
          </a:bodyPr>
          <a:lstStyle/>
          <a:p>
            <a:pPr>
              <a:defRPr sz="1500" b="0">
                <a:solidFill>
                  <a:srgbClr val="F3F6FA"/>
                </a:solidFill>
                <a:latin typeface="맑은 고딕"/>
              </a:defRPr>
            </a:pPr>
            <a:r>
              <a:t>status 0</a:t>
            </a:r>
          </a:p>
          <a:p>
            <a:pPr>
              <a:defRPr sz="1500" b="0">
                <a:solidFill>
                  <a:srgbClr val="F3F6FA"/>
                </a:solidFill>
                <a:latin typeface="맑은 고딕"/>
              </a:defRPr>
            </a:pPr>
            <a:r>
              <a:t>수취 잔액 증가 0</a:t>
            </a:r>
          </a:p>
        </p:txBody>
      </p:sp>
      <p:sp>
        <p:nvSpPr>
          <p:cNvPr id="11" name="Rectangle 10"/>
          <p:cNvSpPr/>
          <p:nvPr/>
        </p:nvSpPr>
        <p:spPr>
          <a:xfrm>
            <a:off x="4334256" y="2743200"/>
            <a:ext cx="3511296" cy="2011680"/>
          </a:xfrm>
          <a:prstGeom prst="rect">
            <a:avLst/>
          </a:prstGeom>
          <a:solidFill>
            <a:srgbClr val="1A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4256" y="2743200"/>
            <a:ext cx="32004" cy="2011680"/>
          </a:xfrm>
          <a:prstGeom prst="rect">
            <a:avLst/>
          </a:prstGeom>
          <a:solidFill>
            <a:srgbClr val="FFBD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98848" y="2880360"/>
            <a:ext cx="3182112" cy="411480"/>
          </a:xfrm>
          <a:prstGeom prst="rect">
            <a:avLst/>
          </a:prstGeom>
          <a:noFill/>
        </p:spPr>
        <p:txBody>
          <a:bodyPr wrap="square" lIns="0" rIns="0" tIns="0" bIns="0">
            <a:spAutoFit/>
          </a:bodyPr>
          <a:lstStyle/>
          <a:p>
            <a:pPr>
              <a:defRPr sz="1800" b="1">
                <a:solidFill>
                  <a:srgbClr val="FFBD69"/>
                </a:solidFill>
                <a:latin typeface="맑은 고딕"/>
              </a:defRPr>
            </a:pPr>
            <a:r>
              <a:t>발급 + 인덱싱</a:t>
            </a:r>
          </a:p>
        </p:txBody>
      </p:sp>
      <p:sp>
        <p:nvSpPr>
          <p:cNvPr id="14" name="TextBox 13"/>
          <p:cNvSpPr txBox="1"/>
          <p:nvPr/>
        </p:nvSpPr>
        <p:spPr>
          <a:xfrm>
            <a:off x="4498848" y="3383280"/>
            <a:ext cx="3182112" cy="1344168"/>
          </a:xfrm>
          <a:prstGeom prst="rect">
            <a:avLst/>
          </a:prstGeom>
          <a:noFill/>
        </p:spPr>
        <p:txBody>
          <a:bodyPr wrap="square" lIns="0" rIns="0" tIns="0" bIns="0">
            <a:spAutoFit/>
          </a:bodyPr>
          <a:lstStyle/>
          <a:p>
            <a:pPr>
              <a:defRPr sz="1500" b="0">
                <a:solidFill>
                  <a:srgbClr val="F3F6FA"/>
                </a:solidFill>
                <a:latin typeface="맑은 고딕"/>
              </a:defRPr>
            </a:pPr>
            <a:r>
              <a:t>status 1</a:t>
            </a:r>
          </a:p>
          <a:p>
            <a:pPr>
              <a:defRPr sz="1500" b="0">
                <a:solidFill>
                  <a:srgbClr val="F3F6FA"/>
                </a:solidFill>
                <a:latin typeface="맑은 고딕"/>
              </a:defRPr>
            </a:pPr>
            <a:r>
              <a:t>수취 +0.001 tOKRW</a:t>
            </a:r>
          </a:p>
        </p:txBody>
      </p:sp>
      <p:sp>
        <p:nvSpPr>
          <p:cNvPr id="15" name="Rectangle 14"/>
          <p:cNvSpPr/>
          <p:nvPr/>
        </p:nvSpPr>
        <p:spPr>
          <a:xfrm>
            <a:off x="8028431" y="2743200"/>
            <a:ext cx="3511296" cy="2011680"/>
          </a:xfrm>
          <a:prstGeom prst="rect">
            <a:avLst/>
          </a:prstGeom>
          <a:solidFill>
            <a:srgbClr val="1A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28431" y="2743200"/>
            <a:ext cx="32004" cy="2011680"/>
          </a:xfrm>
          <a:prstGeom prst="rect">
            <a:avLst/>
          </a:prstGeom>
          <a:solidFill>
            <a:srgbClr val="BDA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93023" y="2880360"/>
            <a:ext cx="3182112" cy="411480"/>
          </a:xfrm>
          <a:prstGeom prst="rect">
            <a:avLst/>
          </a:prstGeom>
          <a:noFill/>
        </p:spPr>
        <p:txBody>
          <a:bodyPr wrap="square" lIns="0" rIns="0" tIns="0" bIns="0">
            <a:spAutoFit/>
          </a:bodyPr>
          <a:lstStyle/>
          <a:p>
            <a:pPr>
              <a:defRPr sz="1800" b="1">
                <a:solidFill>
                  <a:srgbClr val="BDABFF"/>
                </a:solidFill>
                <a:latin typeface="맑은 고딕"/>
              </a:defRPr>
            </a:pPr>
            <a:r>
              <a:t>폐기 후 재요청</a:t>
            </a:r>
          </a:p>
        </p:txBody>
      </p:sp>
      <p:sp>
        <p:nvSpPr>
          <p:cNvPr id="18" name="TextBox 17"/>
          <p:cNvSpPr txBox="1"/>
          <p:nvPr/>
        </p:nvSpPr>
        <p:spPr>
          <a:xfrm>
            <a:off x="8193023" y="3383280"/>
            <a:ext cx="3182112" cy="1344168"/>
          </a:xfrm>
          <a:prstGeom prst="rect">
            <a:avLst/>
          </a:prstGeom>
          <a:noFill/>
        </p:spPr>
        <p:txBody>
          <a:bodyPr wrap="square" lIns="0" rIns="0" tIns="0" bIns="0">
            <a:spAutoFit/>
          </a:bodyPr>
          <a:lstStyle/>
          <a:p>
            <a:pPr>
              <a:defRPr sz="1500" b="0">
                <a:solidFill>
                  <a:srgbClr val="F3F6FA"/>
                </a:solidFill>
                <a:latin typeface="맑은 고딕"/>
              </a:defRPr>
            </a:pPr>
            <a:r>
              <a:t>status 0</a:t>
            </a:r>
          </a:p>
          <a:p>
            <a:pPr>
              <a:defRPr sz="1500" b="0">
                <a:solidFill>
                  <a:srgbClr val="F3F6FA"/>
                </a:solidFill>
                <a:latin typeface="맑은 고딕"/>
              </a:defRPr>
            </a:pPr>
            <a:r>
              <a:t>추가 지급 없음</a:t>
            </a:r>
          </a:p>
        </p:txBody>
      </p:sp>
      <p:sp>
        <p:nvSpPr>
          <p:cNvPr id="19" name="TextBox 18"/>
          <p:cNvSpPr txBox="1"/>
          <p:nvPr/>
        </p:nvSpPr>
        <p:spPr>
          <a:xfrm>
            <a:off x="731520" y="5212080"/>
            <a:ext cx="5486400" cy="457200"/>
          </a:xfrm>
          <a:prstGeom prst="rect">
            <a:avLst/>
          </a:prstGeom>
          <a:noFill/>
        </p:spPr>
        <p:txBody>
          <a:bodyPr wrap="square" lIns="0" rIns="0" tIns="0" bIns="0">
            <a:spAutoFit/>
          </a:bodyPr>
          <a:lstStyle/>
          <a:p>
            <a:pPr>
              <a:defRPr sz="2300" b="1">
                <a:solidFill>
                  <a:srgbClr val="58D6BD"/>
                </a:solidFill>
                <a:latin typeface="맑은 고딕"/>
              </a:defRPr>
            </a:pPr>
            <a:r>
              <a:rPr>
                <a:hlinkClick r:id="rId2"/>
              </a:rPr>
              <a:t>실습 커맨드 열기 ↗</a:t>
            </a:r>
          </a:p>
        </p:txBody>
      </p:sp>
      <p:sp>
        <p:nvSpPr>
          <p:cNvPr id="20" name="TextBox 19"/>
          <p:cNvSpPr txBox="1"/>
          <p:nvPr/>
        </p:nvSpPr>
        <p:spPr>
          <a:xfrm>
            <a:off x="640080" y="6519672"/>
            <a:ext cx="9144000" cy="182880"/>
          </a:xfrm>
          <a:prstGeom prst="rect">
            <a:avLst/>
          </a:prstGeom>
          <a:noFill/>
        </p:spPr>
        <p:txBody>
          <a:bodyPr wrap="square" lIns="0" rIns="0" tIns="0" bIns="0">
            <a:spAutoFit/>
          </a:bodyPr>
          <a:lstStyle/>
          <a:p>
            <a:pPr>
              <a:defRPr sz="1000" b="0">
                <a:solidFill>
                  <a:srgbClr val="A9BAD0"/>
                </a:solidFill>
                <a:latin typeface="맑은 고딕"/>
              </a:defRPr>
            </a:pPr>
            <a:r>
              <a:t>MAROO WORKSHOP / 설명 10장 · 실습은 웹사이트</a:t>
            </a:r>
          </a:p>
        </p:txBody>
      </p:sp>
      <p:sp>
        <p:nvSpPr>
          <p:cNvPr id="21" name="TextBox 20"/>
          <p:cNvSpPr txBox="1"/>
          <p:nvPr/>
        </p:nvSpPr>
        <p:spPr>
          <a:xfrm>
            <a:off x="10698480" y="6519672"/>
            <a:ext cx="914400" cy="182880"/>
          </a:xfrm>
          <a:prstGeom prst="rect">
            <a:avLst/>
          </a:prstGeom>
          <a:noFill/>
        </p:spPr>
        <p:txBody>
          <a:bodyPr wrap="square" lIns="0" rIns="0" tIns="0" bIns="0">
            <a:spAutoFit/>
          </a:bodyPr>
          <a:lstStyle/>
          <a:p>
            <a:pPr>
              <a:defRPr sz="1000" b="0">
                <a:solidFill>
                  <a:srgbClr val="A9BAD0"/>
                </a:solidFill>
                <a:latin typeface="맑은 고딕"/>
              </a:defRPr>
            </a:pPr>
            <a:r>
              <a:t>05 / 10</a:t>
            </a:r>
          </a:p>
        </p:txBody>
      </p:sp>
      <p:sp>
        <p:nvSpPr>
          <p:cNvPr id="22" name="Rectangle 21"/>
          <p:cNvSpPr/>
          <p:nvPr/>
        </p:nvSpPr>
        <p:spPr>
          <a:xfrm>
            <a:off x="640080" y="6382512"/>
            <a:ext cx="10899648" cy="13716"/>
          </a:xfrm>
          <a:prstGeom prst="rect">
            <a:avLst/>
          </a:prstGeom>
          <a:solidFill>
            <a:srgbClr val="1A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8368" y="6080760"/>
            <a:ext cx="1828800" cy="228600"/>
          </a:xfrm>
          <a:prstGeom prst="rect">
            <a:avLst/>
          </a:prstGeom>
          <a:noFill/>
        </p:spPr>
        <p:txBody>
          <a:bodyPr wrap="square" lIns="0" rIns="0" tIns="0" bIns="0">
            <a:spAutoFit/>
          </a:bodyPr>
          <a:lstStyle/>
          <a:p>
            <a:pPr>
              <a:defRPr sz="1100" b="0">
                <a:solidFill>
                  <a:srgbClr val="A9BAD0"/>
                </a:solidFill>
                <a:latin typeface="맑은 고딕"/>
              </a:defRPr>
            </a:pPr>
            <a:r>
              <a:rPr>
                <a:hlinkClick r:id="rId3"/>
              </a:rPr>
              <a:t>참고자료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8229600" cy="274320"/>
          </a:xfrm>
          <a:prstGeom prst="rect">
            <a:avLst/>
          </a:prstGeom>
          <a:noFill/>
        </p:spPr>
        <p:txBody>
          <a:bodyPr wrap="square" lIns="0" rIns="0" tIns="0" bIns="0">
            <a:spAutoFit/>
          </a:bodyPr>
          <a:lstStyle/>
          <a:p>
            <a:pPr>
              <a:defRPr sz="1200" b="1">
                <a:solidFill>
                  <a:srgbClr val="58D6BD"/>
                </a:solidFill>
                <a:latin typeface="맑은 고딕"/>
              </a:defRPr>
            </a:pPr>
            <a:r>
              <a:t>OBSERVED RESULT</a:t>
            </a:r>
          </a:p>
        </p:txBody>
      </p:sp>
      <p:sp>
        <p:nvSpPr>
          <p:cNvPr id="4" name="TextBox 3"/>
          <p:cNvSpPr txBox="1"/>
          <p:nvPr/>
        </p:nvSpPr>
        <p:spPr>
          <a:xfrm>
            <a:off x="9784080" y="411480"/>
            <a:ext cx="1828800" cy="274320"/>
          </a:xfrm>
          <a:prstGeom prst="rect">
            <a:avLst/>
          </a:prstGeom>
          <a:noFill/>
        </p:spPr>
        <p:txBody>
          <a:bodyPr wrap="square" lIns="0" rIns="0" tIns="0" bIns="0">
            <a:spAutoFit/>
          </a:bodyPr>
          <a:lstStyle/>
          <a:p>
            <a:pPr>
              <a:defRPr sz="1200" b="0">
                <a:solidFill>
                  <a:srgbClr val="A9BAD0"/>
                </a:solidFill>
                <a:latin typeface="맑은 고딕"/>
              </a:defRPr>
            </a:pPr>
            <a:r>
              <a:t>34–40 MIN</a:t>
            </a:r>
          </a:p>
        </p:txBody>
      </p:sp>
      <p:sp>
        <p:nvSpPr>
          <p:cNvPr id="5" name="TextBox 4"/>
          <p:cNvSpPr txBox="1"/>
          <p:nvPr/>
        </p:nvSpPr>
        <p:spPr>
          <a:xfrm>
            <a:off x="640080" y="932688"/>
            <a:ext cx="10927080" cy="1005840"/>
          </a:xfrm>
          <a:prstGeom prst="rect">
            <a:avLst/>
          </a:prstGeom>
          <a:noFill/>
        </p:spPr>
        <p:txBody>
          <a:bodyPr wrap="square" lIns="0" rIns="0" tIns="0" bIns="0">
            <a:spAutoFit/>
          </a:bodyPr>
          <a:lstStyle/>
          <a:p>
            <a:pPr>
              <a:defRPr sz="3000" b="1">
                <a:solidFill>
                  <a:srgbClr val="F3F6FA"/>
                </a:solidFill>
                <a:latin typeface="맑은 고딕"/>
              </a:defRPr>
            </a:pPr>
            <a:r>
              <a:t>false 증명도 지급이 통과했습니다</a:t>
            </a:r>
          </a:p>
        </p:txBody>
      </p:sp>
      <p:sp>
        <p:nvSpPr>
          <p:cNvPr id="6" name="TextBox 5"/>
          <p:cNvSpPr txBox="1"/>
          <p:nvPr/>
        </p:nvSpPr>
        <p:spPr>
          <a:xfrm>
            <a:off x="658368" y="1938528"/>
            <a:ext cx="10881360" cy="548640"/>
          </a:xfrm>
          <a:prstGeom prst="rect">
            <a:avLst/>
          </a:prstGeom>
          <a:noFill/>
        </p:spPr>
        <p:txBody>
          <a:bodyPr wrap="square" lIns="0" rIns="0" tIns="0" bIns="0">
            <a:spAutoFit/>
          </a:bodyPr>
          <a:lstStyle/>
          <a:p>
            <a:pPr>
              <a:defRPr sz="1800" b="0">
                <a:solidFill>
                  <a:srgbClr val="A9BAD0"/>
                </a:solidFill>
                <a:latin typeface="맑은 고딕"/>
              </a:defRPr>
            </a:pPr>
            <a:r>
              <a:t>이번 EAS_POLICY는 내부 bool 값이 true인지 강제하지 않았습니다</a:t>
            </a:r>
          </a:p>
        </p:txBody>
      </p:sp>
      <p:sp>
        <p:nvSpPr>
          <p:cNvPr id="7" name="Rectangle 6"/>
          <p:cNvSpPr/>
          <p:nvPr/>
        </p:nvSpPr>
        <p:spPr>
          <a:xfrm>
            <a:off x="640080" y="2743200"/>
            <a:ext cx="3511296" cy="2011680"/>
          </a:xfrm>
          <a:prstGeom prst="rect">
            <a:avLst/>
          </a:prstGeom>
          <a:solidFill>
            <a:srgbClr val="1A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2743200"/>
            <a:ext cx="32004" cy="2011680"/>
          </a:xfrm>
          <a:prstGeom prst="rect">
            <a:avLst/>
          </a:prstGeom>
          <a:solidFill>
            <a:srgbClr val="58D6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1" y="2880360"/>
            <a:ext cx="3182112" cy="411480"/>
          </a:xfrm>
          <a:prstGeom prst="rect">
            <a:avLst/>
          </a:prstGeom>
          <a:noFill/>
        </p:spPr>
        <p:txBody>
          <a:bodyPr wrap="square" lIns="0" rIns="0" tIns="0" bIns="0">
            <a:spAutoFit/>
          </a:bodyPr>
          <a:lstStyle/>
          <a:p>
            <a:pPr>
              <a:defRPr sz="1800" b="1">
                <a:solidFill>
                  <a:srgbClr val="58D6BD"/>
                </a:solidFill>
                <a:latin typeface="맑은 고딕"/>
              </a:defRPr>
            </a:pPr>
            <a:r>
              <a:t>유효한 false</a:t>
            </a:r>
          </a:p>
        </p:txBody>
      </p:sp>
      <p:sp>
        <p:nvSpPr>
          <p:cNvPr id="10" name="TextBox 9"/>
          <p:cNvSpPr txBox="1"/>
          <p:nvPr/>
        </p:nvSpPr>
        <p:spPr>
          <a:xfrm>
            <a:off x="804671" y="3383280"/>
            <a:ext cx="3182112" cy="1344168"/>
          </a:xfrm>
          <a:prstGeom prst="rect">
            <a:avLst/>
          </a:prstGeom>
          <a:noFill/>
        </p:spPr>
        <p:txBody>
          <a:bodyPr wrap="square" lIns="0" rIns="0" tIns="0" bIns="0">
            <a:spAutoFit/>
          </a:bodyPr>
          <a:lstStyle/>
          <a:p>
            <a:pPr>
              <a:defRPr sz="1500" b="0">
                <a:solidFill>
                  <a:srgbClr val="F3F6FA"/>
                </a:solidFill>
                <a:latin typeface="맑은 고딕"/>
              </a:defRPr>
            </a:pPr>
            <a:r>
              <a:t>실제 지급 성공</a:t>
            </a:r>
          </a:p>
          <a:p>
            <a:pPr>
              <a:defRPr sz="1500" b="0">
                <a:solidFill>
                  <a:srgbClr val="F3F6FA"/>
                </a:solidFill>
                <a:latin typeface="맑은 고딕"/>
              </a:defRPr>
            </a:pPr>
            <a:r>
              <a:t>수취 +0.001 tOKRW</a:t>
            </a:r>
          </a:p>
        </p:txBody>
      </p:sp>
      <p:sp>
        <p:nvSpPr>
          <p:cNvPr id="11" name="Rectangle 10"/>
          <p:cNvSpPr/>
          <p:nvPr/>
        </p:nvSpPr>
        <p:spPr>
          <a:xfrm>
            <a:off x="4334256" y="2743200"/>
            <a:ext cx="3511296" cy="2011680"/>
          </a:xfrm>
          <a:prstGeom prst="rect">
            <a:avLst/>
          </a:prstGeom>
          <a:solidFill>
            <a:srgbClr val="1A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4256" y="2743200"/>
            <a:ext cx="32004" cy="2011680"/>
          </a:xfrm>
          <a:prstGeom prst="rect">
            <a:avLst/>
          </a:prstGeom>
          <a:solidFill>
            <a:srgbClr val="FFBD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98848" y="2880360"/>
            <a:ext cx="3182112" cy="411480"/>
          </a:xfrm>
          <a:prstGeom prst="rect">
            <a:avLst/>
          </a:prstGeom>
          <a:noFill/>
        </p:spPr>
        <p:txBody>
          <a:bodyPr wrap="square" lIns="0" rIns="0" tIns="0" bIns="0">
            <a:spAutoFit/>
          </a:bodyPr>
          <a:lstStyle/>
          <a:p>
            <a:pPr>
              <a:defRPr sz="1800" b="1">
                <a:solidFill>
                  <a:srgbClr val="FFBD69"/>
                </a:solidFill>
                <a:latin typeface="맑은 고딕"/>
              </a:defRPr>
            </a:pPr>
            <a:r>
              <a:t>유효한 true</a:t>
            </a:r>
          </a:p>
        </p:txBody>
      </p:sp>
      <p:sp>
        <p:nvSpPr>
          <p:cNvPr id="14" name="TextBox 13"/>
          <p:cNvSpPr txBox="1"/>
          <p:nvPr/>
        </p:nvSpPr>
        <p:spPr>
          <a:xfrm>
            <a:off x="4498848" y="3383280"/>
            <a:ext cx="3182112" cy="1344168"/>
          </a:xfrm>
          <a:prstGeom prst="rect">
            <a:avLst/>
          </a:prstGeom>
          <a:noFill/>
        </p:spPr>
        <p:txBody>
          <a:bodyPr wrap="square" lIns="0" rIns="0" tIns="0" bIns="0">
            <a:spAutoFit/>
          </a:bodyPr>
          <a:lstStyle/>
          <a:p>
            <a:pPr>
              <a:defRPr sz="1500" b="0">
                <a:solidFill>
                  <a:srgbClr val="F3F6FA"/>
                </a:solidFill>
                <a:latin typeface="맑은 고딕"/>
              </a:defRPr>
            </a:pPr>
            <a:r>
              <a:t>실제 지급 성공</a:t>
            </a:r>
          </a:p>
          <a:p>
            <a:pPr>
              <a:defRPr sz="1500" b="0">
                <a:solidFill>
                  <a:srgbClr val="F3F6FA"/>
                </a:solidFill>
                <a:latin typeface="맑은 고딕"/>
              </a:defRPr>
            </a:pPr>
            <a:r>
              <a:t>수취 +0.001 tOKRW</a:t>
            </a:r>
          </a:p>
        </p:txBody>
      </p:sp>
      <p:sp>
        <p:nvSpPr>
          <p:cNvPr id="15" name="Rectangle 14"/>
          <p:cNvSpPr/>
          <p:nvPr/>
        </p:nvSpPr>
        <p:spPr>
          <a:xfrm>
            <a:off x="8028431" y="2743200"/>
            <a:ext cx="3511296" cy="2011680"/>
          </a:xfrm>
          <a:prstGeom prst="rect">
            <a:avLst/>
          </a:prstGeom>
          <a:solidFill>
            <a:srgbClr val="1A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28431" y="2743200"/>
            <a:ext cx="32004" cy="2011680"/>
          </a:xfrm>
          <a:prstGeom prst="rect">
            <a:avLst/>
          </a:prstGeom>
          <a:solidFill>
            <a:srgbClr val="BDA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93023" y="2880360"/>
            <a:ext cx="3182112" cy="411480"/>
          </a:xfrm>
          <a:prstGeom prst="rect">
            <a:avLst/>
          </a:prstGeom>
          <a:noFill/>
        </p:spPr>
        <p:txBody>
          <a:bodyPr wrap="square" lIns="0" rIns="0" tIns="0" bIns="0">
            <a:spAutoFit/>
          </a:bodyPr>
          <a:lstStyle/>
          <a:p>
            <a:pPr>
              <a:defRPr sz="1800" b="1">
                <a:solidFill>
                  <a:srgbClr val="BDABFF"/>
                </a:solidFill>
                <a:latin typeface="맑은 고딕"/>
              </a:defRPr>
            </a:pPr>
            <a:r>
              <a:t>설계 의미</a:t>
            </a:r>
          </a:p>
        </p:txBody>
      </p:sp>
      <p:sp>
        <p:nvSpPr>
          <p:cNvPr id="18" name="TextBox 17"/>
          <p:cNvSpPr txBox="1"/>
          <p:nvPr/>
        </p:nvSpPr>
        <p:spPr>
          <a:xfrm>
            <a:off x="8193023" y="3383280"/>
            <a:ext cx="3182112" cy="1344168"/>
          </a:xfrm>
          <a:prstGeom prst="rect">
            <a:avLst/>
          </a:prstGeom>
          <a:noFill/>
        </p:spPr>
        <p:txBody>
          <a:bodyPr wrap="square" lIns="0" rIns="0" tIns="0" bIns="0">
            <a:spAutoFit/>
          </a:bodyPr>
          <a:lstStyle/>
          <a:p>
            <a:pPr>
              <a:defRPr sz="1500" b="0">
                <a:solidFill>
                  <a:srgbClr val="F3F6FA"/>
                </a:solidFill>
                <a:latin typeface="맑은 고딕"/>
              </a:defRPr>
            </a:pPr>
            <a:r>
              <a:t>승인 대상에게만 발급</a:t>
            </a:r>
          </a:p>
          <a:p>
            <a:pPr>
              <a:defRPr sz="1500" b="0">
                <a:solidFill>
                  <a:srgbClr val="F3F6FA"/>
                </a:solidFill>
                <a:latin typeface="맑은 고딕"/>
              </a:defRPr>
            </a:pPr>
            <a:r>
              <a:t>취소 시 기존 자격 폐기</a:t>
            </a:r>
          </a:p>
        </p:txBody>
      </p:sp>
      <p:sp>
        <p:nvSpPr>
          <p:cNvPr id="19" name="TextBox 18"/>
          <p:cNvSpPr txBox="1"/>
          <p:nvPr/>
        </p:nvSpPr>
        <p:spPr>
          <a:xfrm>
            <a:off x="731520" y="5212080"/>
            <a:ext cx="10515600" cy="548640"/>
          </a:xfrm>
          <a:prstGeom prst="rect">
            <a:avLst/>
          </a:prstGeom>
          <a:noFill/>
        </p:spPr>
        <p:txBody>
          <a:bodyPr wrap="square" lIns="0" rIns="0" tIns="0" bIns="0">
            <a:spAutoFit/>
          </a:bodyPr>
          <a:lstStyle/>
          <a:p>
            <a:pPr>
              <a:defRPr sz="2200" b="1">
                <a:solidFill>
                  <a:srgbClr val="FFBD69"/>
                </a:solidFill>
                <a:latin typeface="맑은 고딕"/>
              </a:defRPr>
            </a:pPr>
            <a:r>
              <a:t>유효한 증명 보유 ≠ 데이터 값의 참·거짓</a:t>
            </a:r>
          </a:p>
        </p:txBody>
      </p:sp>
      <p:sp>
        <p:nvSpPr>
          <p:cNvPr id="20" name="TextBox 19"/>
          <p:cNvSpPr txBox="1"/>
          <p:nvPr/>
        </p:nvSpPr>
        <p:spPr>
          <a:xfrm>
            <a:off x="640080" y="6519672"/>
            <a:ext cx="9144000" cy="182880"/>
          </a:xfrm>
          <a:prstGeom prst="rect">
            <a:avLst/>
          </a:prstGeom>
          <a:noFill/>
        </p:spPr>
        <p:txBody>
          <a:bodyPr wrap="square" lIns="0" rIns="0" tIns="0" bIns="0">
            <a:spAutoFit/>
          </a:bodyPr>
          <a:lstStyle/>
          <a:p>
            <a:pPr>
              <a:defRPr sz="1000" b="0">
                <a:solidFill>
                  <a:srgbClr val="A9BAD0"/>
                </a:solidFill>
                <a:latin typeface="맑은 고딕"/>
              </a:defRPr>
            </a:pPr>
            <a:r>
              <a:t>MAROO WORKSHOP / 설명 10장 · 실습은 웹사이트</a:t>
            </a:r>
          </a:p>
        </p:txBody>
      </p:sp>
      <p:sp>
        <p:nvSpPr>
          <p:cNvPr id="21" name="TextBox 20"/>
          <p:cNvSpPr txBox="1"/>
          <p:nvPr/>
        </p:nvSpPr>
        <p:spPr>
          <a:xfrm>
            <a:off x="10698480" y="6519672"/>
            <a:ext cx="914400" cy="182880"/>
          </a:xfrm>
          <a:prstGeom prst="rect">
            <a:avLst/>
          </a:prstGeom>
          <a:noFill/>
        </p:spPr>
        <p:txBody>
          <a:bodyPr wrap="square" lIns="0" rIns="0" tIns="0" bIns="0">
            <a:spAutoFit/>
          </a:bodyPr>
          <a:lstStyle/>
          <a:p>
            <a:pPr>
              <a:defRPr sz="1000" b="0">
                <a:solidFill>
                  <a:srgbClr val="A9BAD0"/>
                </a:solidFill>
                <a:latin typeface="맑은 고딕"/>
              </a:defRPr>
            </a:pPr>
            <a:r>
              <a:t>06 / 10</a:t>
            </a:r>
          </a:p>
        </p:txBody>
      </p:sp>
      <p:sp>
        <p:nvSpPr>
          <p:cNvPr id="22" name="Rectangle 21"/>
          <p:cNvSpPr/>
          <p:nvPr/>
        </p:nvSpPr>
        <p:spPr>
          <a:xfrm>
            <a:off x="640080" y="6382512"/>
            <a:ext cx="10899648" cy="13716"/>
          </a:xfrm>
          <a:prstGeom prst="rect">
            <a:avLst/>
          </a:prstGeom>
          <a:solidFill>
            <a:srgbClr val="1A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8368" y="6080760"/>
            <a:ext cx="1828800" cy="228600"/>
          </a:xfrm>
          <a:prstGeom prst="rect">
            <a:avLst/>
          </a:prstGeom>
          <a:noFill/>
        </p:spPr>
        <p:txBody>
          <a:bodyPr wrap="square" lIns="0" rIns="0" tIns="0" bIns="0">
            <a:spAutoFit/>
          </a:bodyPr>
          <a:lstStyle/>
          <a:p>
            <a:pPr>
              <a:defRPr sz="1100" b="0">
                <a:solidFill>
                  <a:srgbClr val="A9BAD0"/>
                </a:solidFill>
                <a:latin typeface="맑은 고딕"/>
              </a:defRPr>
            </a:pPr>
            <a:r>
              <a:rPr>
                <a:hlinkClick r:id="rId2"/>
              </a:rPr>
              <a:t>참고자료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8229600" cy="274320"/>
          </a:xfrm>
          <a:prstGeom prst="rect">
            <a:avLst/>
          </a:prstGeom>
          <a:noFill/>
        </p:spPr>
        <p:txBody>
          <a:bodyPr wrap="square" lIns="0" rIns="0" tIns="0" bIns="0">
            <a:spAutoFit/>
          </a:bodyPr>
          <a:lstStyle/>
          <a:p>
            <a:pPr>
              <a:defRPr sz="1200" b="1">
                <a:solidFill>
                  <a:srgbClr val="58D6BD"/>
                </a:solidFill>
                <a:latin typeface="맑은 고딕"/>
              </a:defRPr>
            </a:pPr>
            <a:r>
              <a:t>PRIVACY ARCHITECTURE / LOCAL</a:t>
            </a:r>
          </a:p>
        </p:txBody>
      </p:sp>
      <p:sp>
        <p:nvSpPr>
          <p:cNvPr id="4" name="TextBox 3"/>
          <p:cNvSpPr txBox="1"/>
          <p:nvPr/>
        </p:nvSpPr>
        <p:spPr>
          <a:xfrm>
            <a:off x="9784080" y="411480"/>
            <a:ext cx="1828800" cy="274320"/>
          </a:xfrm>
          <a:prstGeom prst="rect">
            <a:avLst/>
          </a:prstGeom>
          <a:noFill/>
        </p:spPr>
        <p:txBody>
          <a:bodyPr wrap="square" lIns="0" rIns="0" tIns="0" bIns="0">
            <a:spAutoFit/>
          </a:bodyPr>
          <a:lstStyle/>
          <a:p>
            <a:pPr>
              <a:defRPr sz="1200" b="0">
                <a:solidFill>
                  <a:srgbClr val="A9BAD0"/>
                </a:solidFill>
                <a:latin typeface="맑은 고딕"/>
              </a:defRPr>
            </a:pPr>
            <a:r>
              <a:t>40–47 MIN</a:t>
            </a:r>
          </a:p>
        </p:txBody>
      </p:sp>
      <p:sp>
        <p:nvSpPr>
          <p:cNvPr id="5" name="TextBox 4"/>
          <p:cNvSpPr txBox="1"/>
          <p:nvPr/>
        </p:nvSpPr>
        <p:spPr>
          <a:xfrm>
            <a:off x="640080" y="932688"/>
            <a:ext cx="10927080" cy="1005840"/>
          </a:xfrm>
          <a:prstGeom prst="rect">
            <a:avLst/>
          </a:prstGeom>
          <a:noFill/>
        </p:spPr>
        <p:txBody>
          <a:bodyPr wrap="square" lIns="0" rIns="0" tIns="0" bIns="0">
            <a:spAutoFit/>
          </a:bodyPr>
          <a:lstStyle/>
          <a:p>
            <a:pPr>
              <a:defRPr sz="3000" b="1">
                <a:solidFill>
                  <a:srgbClr val="F3F6FA"/>
                </a:solidFill>
                <a:latin typeface="맑은 고딕"/>
              </a:defRPr>
            </a:pPr>
            <a:r>
              <a:t>Privacy 구조: 증명 생성과 수신 조회</a:t>
            </a:r>
          </a:p>
        </p:txBody>
      </p:sp>
      <p:sp>
        <p:nvSpPr>
          <p:cNvPr id="6" name="TextBox 5"/>
          <p:cNvSpPr txBox="1"/>
          <p:nvPr/>
        </p:nvSpPr>
        <p:spPr>
          <a:xfrm>
            <a:off x="658368" y="1938528"/>
            <a:ext cx="10881360" cy="548640"/>
          </a:xfrm>
          <a:prstGeom prst="rect">
            <a:avLst/>
          </a:prstGeom>
          <a:noFill/>
        </p:spPr>
        <p:txBody>
          <a:bodyPr wrap="square" lIns="0" rIns="0" tIns="0" bIns="0">
            <a:spAutoFit/>
          </a:bodyPr>
          <a:lstStyle/>
          <a:p>
            <a:pPr>
              <a:defRPr sz="1800" b="0">
                <a:solidFill>
                  <a:srgbClr val="A9BAD0"/>
                </a:solidFill>
                <a:latin typeface="맑은 고딕"/>
              </a:defRPr>
            </a:pPr>
            <a:r>
              <a:t>독립된 Clairveil 로컬 흐름 · Maroo 테스트넷 성공과 구분</a:t>
            </a:r>
          </a:p>
        </p:txBody>
      </p:sp>
      <p:sp>
        <p:nvSpPr>
          <p:cNvPr id="7" name="Rectangle 6"/>
          <p:cNvSpPr/>
          <p:nvPr/>
        </p:nvSpPr>
        <p:spPr>
          <a:xfrm>
            <a:off x="731520" y="2788920"/>
            <a:ext cx="3794760" cy="1371600"/>
          </a:xfrm>
          <a:prstGeom prst="rect">
            <a:avLst/>
          </a:prstGeom>
          <a:solidFill>
            <a:srgbClr val="1A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2788920"/>
            <a:ext cx="32004" cy="1371600"/>
          </a:xfrm>
          <a:prstGeom prst="rect">
            <a:avLst/>
          </a:prstGeom>
          <a:solidFill>
            <a:srgbClr val="BDA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2926079"/>
            <a:ext cx="3465576" cy="411480"/>
          </a:xfrm>
          <a:prstGeom prst="rect">
            <a:avLst/>
          </a:prstGeom>
          <a:noFill/>
        </p:spPr>
        <p:txBody>
          <a:bodyPr wrap="square" lIns="0" rIns="0" tIns="0" bIns="0">
            <a:spAutoFit/>
          </a:bodyPr>
          <a:lstStyle/>
          <a:p>
            <a:pPr>
              <a:defRPr sz="1800" b="1">
                <a:solidFill>
                  <a:srgbClr val="BDABFF"/>
                </a:solidFill>
                <a:latin typeface="맑은 고딕"/>
              </a:defRPr>
            </a:pPr>
            <a:r>
              <a:t>Alice 지갑 · 로컬 prover</a:t>
            </a:r>
          </a:p>
        </p:txBody>
      </p:sp>
      <p:sp>
        <p:nvSpPr>
          <p:cNvPr id="10" name="TextBox 9"/>
          <p:cNvSpPr txBox="1"/>
          <p:nvPr/>
        </p:nvSpPr>
        <p:spPr>
          <a:xfrm>
            <a:off x="896112" y="3429000"/>
            <a:ext cx="3465576" cy="704088"/>
          </a:xfrm>
          <a:prstGeom prst="rect">
            <a:avLst/>
          </a:prstGeom>
          <a:noFill/>
        </p:spPr>
        <p:txBody>
          <a:bodyPr wrap="square" lIns="0" rIns="0" tIns="0" bIns="0">
            <a:spAutoFit/>
          </a:bodyPr>
          <a:lstStyle/>
          <a:p>
            <a:pPr>
              <a:defRPr sz="1500" b="0">
                <a:solidFill>
                  <a:srgbClr val="F3F6FA"/>
                </a:solidFill>
                <a:latin typeface="맑은 고딕"/>
              </a:defRPr>
            </a:pPr>
            <a:r>
              <a:t>note · witness → proof 생성</a:t>
            </a:r>
          </a:p>
        </p:txBody>
      </p:sp>
      <p:sp>
        <p:nvSpPr>
          <p:cNvPr id="11" name="Rectangle 10"/>
          <p:cNvSpPr/>
          <p:nvPr/>
        </p:nvSpPr>
        <p:spPr>
          <a:xfrm>
            <a:off x="5486400" y="2788920"/>
            <a:ext cx="2880360" cy="1371600"/>
          </a:xfrm>
          <a:prstGeom prst="rect">
            <a:avLst/>
          </a:prstGeom>
          <a:solidFill>
            <a:srgbClr val="1A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0" y="2788920"/>
            <a:ext cx="32004" cy="1371600"/>
          </a:xfrm>
          <a:prstGeom prst="rect">
            <a:avLst/>
          </a:prstGeom>
          <a:solidFill>
            <a:srgbClr val="BDA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50992" y="2926079"/>
            <a:ext cx="2551176" cy="411480"/>
          </a:xfrm>
          <a:prstGeom prst="rect">
            <a:avLst/>
          </a:prstGeom>
          <a:noFill/>
        </p:spPr>
        <p:txBody>
          <a:bodyPr wrap="square" lIns="0" rIns="0" tIns="0" bIns="0">
            <a:spAutoFit/>
          </a:bodyPr>
          <a:lstStyle/>
          <a:p>
            <a:pPr>
              <a:defRPr sz="1800" b="1">
                <a:solidFill>
                  <a:srgbClr val="BDABFF"/>
                </a:solidFill>
                <a:latin typeface="맑은 고딕"/>
              </a:defRPr>
            </a:pPr>
            <a:r>
              <a:t>로컬 체인</a:t>
            </a:r>
          </a:p>
        </p:txBody>
      </p:sp>
      <p:sp>
        <p:nvSpPr>
          <p:cNvPr id="14" name="TextBox 13"/>
          <p:cNvSpPr txBox="1"/>
          <p:nvPr/>
        </p:nvSpPr>
        <p:spPr>
          <a:xfrm>
            <a:off x="5650992" y="3429000"/>
            <a:ext cx="2551176" cy="704088"/>
          </a:xfrm>
          <a:prstGeom prst="rect">
            <a:avLst/>
          </a:prstGeom>
          <a:noFill/>
        </p:spPr>
        <p:txBody>
          <a:bodyPr wrap="square" lIns="0" rIns="0" tIns="0" bIns="0">
            <a:spAutoFit/>
          </a:bodyPr>
          <a:lstStyle/>
          <a:p>
            <a:pPr>
              <a:defRPr sz="1500" b="0">
                <a:solidFill>
                  <a:srgbClr val="F3F6FA"/>
                </a:solidFill>
                <a:latin typeface="맑은 고딕"/>
              </a:defRPr>
            </a:pPr>
            <a:r>
              <a:t>proof 검증 · 상태 갱신</a:t>
            </a:r>
          </a:p>
        </p:txBody>
      </p:sp>
      <p:sp>
        <p:nvSpPr>
          <p:cNvPr id="15" name="Rectangle 14"/>
          <p:cNvSpPr/>
          <p:nvPr/>
        </p:nvSpPr>
        <p:spPr>
          <a:xfrm>
            <a:off x="9189720" y="2788920"/>
            <a:ext cx="2286000" cy="1371600"/>
          </a:xfrm>
          <a:prstGeom prst="rect">
            <a:avLst/>
          </a:prstGeom>
          <a:solidFill>
            <a:srgbClr val="1A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9189720" y="2788920"/>
            <a:ext cx="32004" cy="1371600"/>
          </a:xfrm>
          <a:prstGeom prst="rect">
            <a:avLst/>
          </a:prstGeom>
          <a:solidFill>
            <a:srgbClr val="BDA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54312" y="2926079"/>
            <a:ext cx="1956816" cy="411480"/>
          </a:xfrm>
          <a:prstGeom prst="rect">
            <a:avLst/>
          </a:prstGeom>
          <a:noFill/>
        </p:spPr>
        <p:txBody>
          <a:bodyPr wrap="square" lIns="0" rIns="0" tIns="0" bIns="0">
            <a:spAutoFit/>
          </a:bodyPr>
          <a:lstStyle/>
          <a:p>
            <a:pPr>
              <a:defRPr sz="1800" b="1">
                <a:solidFill>
                  <a:srgbClr val="BDABFF"/>
                </a:solidFill>
                <a:latin typeface="맑은 고딕"/>
              </a:defRPr>
            </a:pPr>
            <a:r>
              <a:t>Bob 지갑</a:t>
            </a:r>
          </a:p>
        </p:txBody>
      </p:sp>
      <p:sp>
        <p:nvSpPr>
          <p:cNvPr id="18" name="TextBox 17"/>
          <p:cNvSpPr txBox="1"/>
          <p:nvPr/>
        </p:nvSpPr>
        <p:spPr>
          <a:xfrm>
            <a:off x="9354312" y="3429000"/>
            <a:ext cx="1956816" cy="704088"/>
          </a:xfrm>
          <a:prstGeom prst="rect">
            <a:avLst/>
          </a:prstGeom>
          <a:noFill/>
        </p:spPr>
        <p:txBody>
          <a:bodyPr wrap="square" lIns="0" rIns="0" tIns="0" bIns="0">
            <a:spAutoFit/>
          </a:bodyPr>
          <a:lstStyle/>
          <a:p>
            <a:pPr>
              <a:defRPr sz="1500" b="0">
                <a:solidFill>
                  <a:srgbClr val="F3F6FA"/>
                </a:solidFill>
                <a:latin typeface="맑은 고딕"/>
              </a:defRPr>
            </a:pPr>
            <a:r>
              <a:t>자기 note 조회</a:t>
            </a:r>
          </a:p>
        </p:txBody>
      </p:sp>
      <p:cxnSp>
        <p:nvCxnSpPr>
          <p:cNvPr id="19" name="Connector 18"/>
          <p:cNvCxnSpPr/>
          <p:nvPr/>
        </p:nvCxnSpPr>
        <p:spPr>
          <a:xfrm>
            <a:off x="4526280" y="3474720"/>
            <a:ext cx="914400" cy="0"/>
          </a:xfrm>
          <a:prstGeom prst="line">
            <a:avLst/>
          </a:prstGeom>
          <a:ln w="25400">
            <a:solidFill>
              <a:srgbClr val="BDABFF"/>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5336360" y="3474720"/>
            <a:ext cx="104320" cy="56990"/>
          </a:xfrm>
          <a:prstGeom prst="line">
            <a:avLst/>
          </a:prstGeom>
          <a:ln w="25400">
            <a:solidFill>
              <a:srgbClr val="BDABFF"/>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5336360" y="3417729"/>
            <a:ext cx="104320" cy="56991"/>
          </a:xfrm>
          <a:prstGeom prst="line">
            <a:avLst/>
          </a:prstGeom>
          <a:ln w="25400">
            <a:solidFill>
              <a:srgbClr val="BDABFF"/>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8366760" y="3474720"/>
            <a:ext cx="777240" cy="0"/>
          </a:xfrm>
          <a:prstGeom prst="line">
            <a:avLst/>
          </a:prstGeom>
          <a:ln w="25400">
            <a:solidFill>
              <a:srgbClr val="BDABFF"/>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9039680" y="3474720"/>
            <a:ext cx="104320" cy="56990"/>
          </a:xfrm>
          <a:prstGeom prst="line">
            <a:avLst/>
          </a:prstGeom>
          <a:ln w="25400">
            <a:solidFill>
              <a:srgbClr val="BDABFF"/>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9039680" y="3417729"/>
            <a:ext cx="104320" cy="56991"/>
          </a:xfrm>
          <a:prstGeom prst="line">
            <a:avLst/>
          </a:prstGeom>
          <a:ln w="25400">
            <a:solidFill>
              <a:srgbClr val="BDABFF"/>
            </a:solidFill>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731520" y="4663440"/>
            <a:ext cx="3291840" cy="1143000"/>
          </a:xfrm>
          <a:prstGeom prst="rect">
            <a:avLst/>
          </a:prstGeom>
          <a:solidFill>
            <a:srgbClr val="1A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1520" y="4663440"/>
            <a:ext cx="32004" cy="1143000"/>
          </a:xfrm>
          <a:prstGeom prst="rect">
            <a:avLst/>
          </a:prstGeom>
          <a:solidFill>
            <a:srgbClr val="58D6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6112" y="4800600"/>
            <a:ext cx="2962656" cy="411480"/>
          </a:xfrm>
          <a:prstGeom prst="rect">
            <a:avLst/>
          </a:prstGeom>
          <a:noFill/>
        </p:spPr>
        <p:txBody>
          <a:bodyPr wrap="square" lIns="0" rIns="0" tIns="0" bIns="0">
            <a:spAutoFit/>
          </a:bodyPr>
          <a:lstStyle/>
          <a:p>
            <a:pPr>
              <a:defRPr sz="1800" b="1">
                <a:solidFill>
                  <a:srgbClr val="58D6BD"/>
                </a:solidFill>
                <a:latin typeface="맑은 고딕"/>
              </a:defRPr>
            </a:pPr>
            <a:r>
              <a:t>예치</a:t>
            </a:r>
          </a:p>
        </p:txBody>
      </p:sp>
      <p:sp>
        <p:nvSpPr>
          <p:cNvPr id="28" name="TextBox 27"/>
          <p:cNvSpPr txBox="1"/>
          <p:nvPr/>
        </p:nvSpPr>
        <p:spPr>
          <a:xfrm>
            <a:off x="896112" y="5303520"/>
            <a:ext cx="2962656" cy="475488"/>
          </a:xfrm>
          <a:prstGeom prst="rect">
            <a:avLst/>
          </a:prstGeom>
          <a:noFill/>
        </p:spPr>
        <p:txBody>
          <a:bodyPr wrap="square" lIns="0" rIns="0" tIns="0" bIns="0">
            <a:spAutoFit/>
          </a:bodyPr>
          <a:lstStyle/>
          <a:p>
            <a:pPr>
              <a:defRPr sz="1500" b="0">
                <a:solidFill>
                  <a:srgbClr val="F3F6FA"/>
                </a:solidFill>
                <a:latin typeface="맑은 고딕"/>
              </a:defRPr>
            </a:pPr>
            <a:r>
              <a:t>공개 입금 → 비공개 note</a:t>
            </a:r>
          </a:p>
        </p:txBody>
      </p:sp>
      <p:sp>
        <p:nvSpPr>
          <p:cNvPr id="29" name="Rectangle 28"/>
          <p:cNvSpPr/>
          <p:nvPr/>
        </p:nvSpPr>
        <p:spPr>
          <a:xfrm>
            <a:off x="4434840" y="4663440"/>
            <a:ext cx="3291840" cy="1143000"/>
          </a:xfrm>
          <a:prstGeom prst="rect">
            <a:avLst/>
          </a:prstGeom>
          <a:solidFill>
            <a:srgbClr val="1A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434840" y="4663440"/>
            <a:ext cx="32004" cy="1143000"/>
          </a:xfrm>
          <a:prstGeom prst="rect">
            <a:avLst/>
          </a:prstGeom>
          <a:solidFill>
            <a:srgbClr val="58D6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99431" y="4800600"/>
            <a:ext cx="2962656" cy="411480"/>
          </a:xfrm>
          <a:prstGeom prst="rect">
            <a:avLst/>
          </a:prstGeom>
          <a:noFill/>
        </p:spPr>
        <p:txBody>
          <a:bodyPr wrap="square" lIns="0" rIns="0" tIns="0" bIns="0">
            <a:spAutoFit/>
          </a:bodyPr>
          <a:lstStyle/>
          <a:p>
            <a:pPr>
              <a:defRPr sz="1800" b="1">
                <a:solidFill>
                  <a:srgbClr val="58D6BD"/>
                </a:solidFill>
                <a:latin typeface="맑은 고딕"/>
              </a:defRPr>
            </a:pPr>
            <a:r>
              <a:t>지급</a:t>
            </a:r>
          </a:p>
        </p:txBody>
      </p:sp>
      <p:sp>
        <p:nvSpPr>
          <p:cNvPr id="32" name="TextBox 31"/>
          <p:cNvSpPr txBox="1"/>
          <p:nvPr/>
        </p:nvSpPr>
        <p:spPr>
          <a:xfrm>
            <a:off x="4599431" y="5303520"/>
            <a:ext cx="2962656" cy="475488"/>
          </a:xfrm>
          <a:prstGeom prst="rect">
            <a:avLst/>
          </a:prstGeom>
          <a:noFill/>
        </p:spPr>
        <p:txBody>
          <a:bodyPr wrap="square" lIns="0" rIns="0" tIns="0" bIns="0">
            <a:spAutoFit/>
          </a:bodyPr>
          <a:lstStyle/>
          <a:p>
            <a:pPr>
              <a:defRPr sz="1500" b="0">
                <a:solidFill>
                  <a:srgbClr val="F3F6FA"/>
                </a:solidFill>
                <a:latin typeface="맑은 고딕"/>
              </a:defRPr>
            </a:pPr>
            <a:r>
              <a:t>준비 self batch → 7 이체</a:t>
            </a:r>
          </a:p>
        </p:txBody>
      </p:sp>
      <p:sp>
        <p:nvSpPr>
          <p:cNvPr id="33" name="Rectangle 32"/>
          <p:cNvSpPr/>
          <p:nvPr/>
        </p:nvSpPr>
        <p:spPr>
          <a:xfrm>
            <a:off x="8138160" y="4663440"/>
            <a:ext cx="3291840" cy="1143000"/>
          </a:xfrm>
          <a:prstGeom prst="rect">
            <a:avLst/>
          </a:prstGeom>
          <a:solidFill>
            <a:srgbClr val="1A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138160" y="4663440"/>
            <a:ext cx="32004" cy="1143000"/>
          </a:xfrm>
          <a:prstGeom prst="rect">
            <a:avLst/>
          </a:prstGeom>
          <a:solidFill>
            <a:srgbClr val="58D6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302752" y="4800600"/>
            <a:ext cx="2962656" cy="411480"/>
          </a:xfrm>
          <a:prstGeom prst="rect">
            <a:avLst/>
          </a:prstGeom>
          <a:noFill/>
        </p:spPr>
        <p:txBody>
          <a:bodyPr wrap="square" lIns="0" rIns="0" tIns="0" bIns="0">
            <a:spAutoFit/>
          </a:bodyPr>
          <a:lstStyle/>
          <a:p>
            <a:pPr>
              <a:defRPr sz="1800" b="1">
                <a:solidFill>
                  <a:srgbClr val="58D6BD"/>
                </a:solidFill>
                <a:latin typeface="맑은 고딕"/>
              </a:defRPr>
            </a:pPr>
            <a:r>
              <a:t>수신 확인</a:t>
            </a:r>
          </a:p>
        </p:txBody>
      </p:sp>
      <p:sp>
        <p:nvSpPr>
          <p:cNvPr id="36" name="TextBox 35"/>
          <p:cNvSpPr txBox="1"/>
          <p:nvPr/>
        </p:nvSpPr>
        <p:spPr>
          <a:xfrm>
            <a:off x="8302752" y="5303520"/>
            <a:ext cx="2962656" cy="475488"/>
          </a:xfrm>
          <a:prstGeom prst="rect">
            <a:avLst/>
          </a:prstGeom>
          <a:noFill/>
        </p:spPr>
        <p:txBody>
          <a:bodyPr wrap="square" lIns="0" rIns="0" tIns="0" bIns="0">
            <a:spAutoFit/>
          </a:bodyPr>
          <a:lstStyle/>
          <a:p>
            <a:pPr>
              <a:defRPr sz="1500" b="0">
                <a:solidFill>
                  <a:srgbClr val="F3F6FA"/>
                </a:solidFill>
                <a:latin typeface="맑은 고딕"/>
              </a:defRPr>
            </a:pPr>
            <a:r>
              <a:t>Bob scan · 반복 조회</a:t>
            </a:r>
          </a:p>
        </p:txBody>
      </p:sp>
      <p:sp>
        <p:nvSpPr>
          <p:cNvPr id="37" name="TextBox 36"/>
          <p:cNvSpPr txBox="1"/>
          <p:nvPr/>
        </p:nvSpPr>
        <p:spPr>
          <a:xfrm>
            <a:off x="640080" y="6519672"/>
            <a:ext cx="9144000" cy="182880"/>
          </a:xfrm>
          <a:prstGeom prst="rect">
            <a:avLst/>
          </a:prstGeom>
          <a:noFill/>
        </p:spPr>
        <p:txBody>
          <a:bodyPr wrap="square" lIns="0" rIns="0" tIns="0" bIns="0">
            <a:spAutoFit/>
          </a:bodyPr>
          <a:lstStyle/>
          <a:p>
            <a:pPr>
              <a:defRPr sz="1000" b="0">
                <a:solidFill>
                  <a:srgbClr val="A9BAD0"/>
                </a:solidFill>
                <a:latin typeface="맑은 고딕"/>
              </a:defRPr>
            </a:pPr>
            <a:r>
              <a:t>MAROO WORKSHOP / 설명 10장 · 실습은 웹사이트</a:t>
            </a:r>
          </a:p>
        </p:txBody>
      </p:sp>
      <p:sp>
        <p:nvSpPr>
          <p:cNvPr id="38" name="TextBox 37"/>
          <p:cNvSpPr txBox="1"/>
          <p:nvPr/>
        </p:nvSpPr>
        <p:spPr>
          <a:xfrm>
            <a:off x="10698480" y="6519672"/>
            <a:ext cx="914400" cy="182880"/>
          </a:xfrm>
          <a:prstGeom prst="rect">
            <a:avLst/>
          </a:prstGeom>
          <a:noFill/>
        </p:spPr>
        <p:txBody>
          <a:bodyPr wrap="square" lIns="0" rIns="0" tIns="0" bIns="0">
            <a:spAutoFit/>
          </a:bodyPr>
          <a:lstStyle/>
          <a:p>
            <a:pPr>
              <a:defRPr sz="1000" b="0">
                <a:solidFill>
                  <a:srgbClr val="A9BAD0"/>
                </a:solidFill>
                <a:latin typeface="맑은 고딕"/>
              </a:defRPr>
            </a:pPr>
            <a:r>
              <a:t>07 / 10</a:t>
            </a:r>
          </a:p>
        </p:txBody>
      </p:sp>
      <p:sp>
        <p:nvSpPr>
          <p:cNvPr id="39" name="Rectangle 38"/>
          <p:cNvSpPr/>
          <p:nvPr/>
        </p:nvSpPr>
        <p:spPr>
          <a:xfrm>
            <a:off x="640080" y="6382512"/>
            <a:ext cx="10899648" cy="13716"/>
          </a:xfrm>
          <a:prstGeom prst="rect">
            <a:avLst/>
          </a:prstGeom>
          <a:solidFill>
            <a:srgbClr val="1A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58368" y="6080760"/>
            <a:ext cx="1828800" cy="228600"/>
          </a:xfrm>
          <a:prstGeom prst="rect">
            <a:avLst/>
          </a:prstGeom>
          <a:noFill/>
        </p:spPr>
        <p:txBody>
          <a:bodyPr wrap="square" lIns="0" rIns="0" tIns="0" bIns="0">
            <a:spAutoFit/>
          </a:bodyPr>
          <a:lstStyle/>
          <a:p>
            <a:pPr>
              <a:defRPr sz="1100" b="0">
                <a:solidFill>
                  <a:srgbClr val="A9BAD0"/>
                </a:solidFill>
                <a:latin typeface="맑은 고딕"/>
              </a:defRPr>
            </a:pPr>
            <a:r>
              <a:rPr>
                <a:hlinkClick r:id="rId2"/>
              </a:rPr>
              <a:t>참고자료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8229600" cy="274320"/>
          </a:xfrm>
          <a:prstGeom prst="rect">
            <a:avLst/>
          </a:prstGeom>
          <a:noFill/>
        </p:spPr>
        <p:txBody>
          <a:bodyPr wrap="square" lIns="0" rIns="0" tIns="0" bIns="0">
            <a:spAutoFit/>
          </a:bodyPr>
          <a:lstStyle/>
          <a:p>
            <a:pPr>
              <a:defRPr sz="1200" b="1">
                <a:solidFill>
                  <a:srgbClr val="58D6BD"/>
                </a:solidFill>
                <a:latin typeface="맑은 고딕"/>
              </a:defRPr>
            </a:pPr>
            <a:r>
              <a:t>LOCAL / 실습 웹사이트 03</a:t>
            </a:r>
          </a:p>
        </p:txBody>
      </p:sp>
      <p:sp>
        <p:nvSpPr>
          <p:cNvPr id="4" name="TextBox 3"/>
          <p:cNvSpPr txBox="1"/>
          <p:nvPr/>
        </p:nvSpPr>
        <p:spPr>
          <a:xfrm>
            <a:off x="9784080" y="411480"/>
            <a:ext cx="1828800" cy="274320"/>
          </a:xfrm>
          <a:prstGeom prst="rect">
            <a:avLst/>
          </a:prstGeom>
          <a:noFill/>
        </p:spPr>
        <p:txBody>
          <a:bodyPr wrap="square" lIns="0" rIns="0" tIns="0" bIns="0">
            <a:spAutoFit/>
          </a:bodyPr>
          <a:lstStyle/>
          <a:p>
            <a:pPr>
              <a:defRPr sz="1200" b="0">
                <a:solidFill>
                  <a:srgbClr val="A9BAD0"/>
                </a:solidFill>
                <a:latin typeface="맑은 고딕"/>
              </a:defRPr>
            </a:pPr>
            <a:r>
              <a:t>47–62 MIN</a:t>
            </a:r>
          </a:p>
        </p:txBody>
      </p:sp>
      <p:sp>
        <p:nvSpPr>
          <p:cNvPr id="5" name="TextBox 4"/>
          <p:cNvSpPr txBox="1"/>
          <p:nvPr/>
        </p:nvSpPr>
        <p:spPr>
          <a:xfrm>
            <a:off x="640080" y="932688"/>
            <a:ext cx="10927080" cy="1005840"/>
          </a:xfrm>
          <a:prstGeom prst="rect">
            <a:avLst/>
          </a:prstGeom>
          <a:noFill/>
        </p:spPr>
        <p:txBody>
          <a:bodyPr wrap="square" lIns="0" rIns="0" tIns="0" bIns="0">
            <a:spAutoFit/>
          </a:bodyPr>
          <a:lstStyle/>
          <a:p>
            <a:pPr>
              <a:defRPr sz="3000" b="1">
                <a:solidFill>
                  <a:srgbClr val="F3F6FA"/>
                </a:solidFill>
                <a:latin typeface="맑은 고딕"/>
              </a:defRPr>
            </a:pPr>
            <a:r>
              <a:t>실습 2 · 예치 10 → 지급 7 → 잔액 3 + 7</a:t>
            </a:r>
          </a:p>
        </p:txBody>
      </p:sp>
      <p:sp>
        <p:nvSpPr>
          <p:cNvPr id="6" name="TextBox 5"/>
          <p:cNvSpPr txBox="1"/>
          <p:nvPr/>
        </p:nvSpPr>
        <p:spPr>
          <a:xfrm>
            <a:off x="658368" y="1938528"/>
            <a:ext cx="10881360" cy="548640"/>
          </a:xfrm>
          <a:prstGeom prst="rect">
            <a:avLst/>
          </a:prstGeom>
          <a:noFill/>
        </p:spPr>
        <p:txBody>
          <a:bodyPr wrap="square" lIns="0" rIns="0" tIns="0" bIns="0">
            <a:spAutoFit/>
          </a:bodyPr>
          <a:lstStyle/>
          <a:p>
            <a:pPr>
              <a:defRPr sz="1800" b="0">
                <a:solidFill>
                  <a:srgbClr val="A9BAD0"/>
                </a:solidFill>
                <a:latin typeface="맑은 고딕"/>
              </a:defRPr>
            </a:pPr>
            <a:r>
              <a:t>사전 준비된 소스·artifacts 사용 · 새 run-dir에서 실행</a:t>
            </a:r>
          </a:p>
        </p:txBody>
      </p:sp>
      <p:sp>
        <p:nvSpPr>
          <p:cNvPr id="7" name="Rectangle 6"/>
          <p:cNvSpPr/>
          <p:nvPr/>
        </p:nvSpPr>
        <p:spPr>
          <a:xfrm>
            <a:off x="731520" y="2743200"/>
            <a:ext cx="3474720" cy="2148840"/>
          </a:xfrm>
          <a:prstGeom prst="rect">
            <a:avLst/>
          </a:prstGeom>
          <a:solidFill>
            <a:srgbClr val="1A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32688" y="2907792"/>
            <a:ext cx="3017520" cy="777240"/>
          </a:xfrm>
          <a:prstGeom prst="rect">
            <a:avLst/>
          </a:prstGeom>
          <a:noFill/>
        </p:spPr>
        <p:txBody>
          <a:bodyPr wrap="square" lIns="0" rIns="0" tIns="0" bIns="0">
            <a:spAutoFit/>
          </a:bodyPr>
          <a:lstStyle/>
          <a:p>
            <a:pPr>
              <a:defRPr sz="4400" b="1">
                <a:solidFill>
                  <a:srgbClr val="BDABFF"/>
                </a:solidFill>
                <a:latin typeface="맑은 고딕"/>
              </a:defRPr>
            </a:pPr>
            <a:r>
              <a:t>10</a:t>
            </a:r>
          </a:p>
        </p:txBody>
      </p:sp>
      <p:sp>
        <p:nvSpPr>
          <p:cNvPr id="9" name="TextBox 8"/>
          <p:cNvSpPr txBox="1"/>
          <p:nvPr/>
        </p:nvSpPr>
        <p:spPr>
          <a:xfrm>
            <a:off x="932688" y="3785615"/>
            <a:ext cx="3017520" cy="365760"/>
          </a:xfrm>
          <a:prstGeom prst="rect">
            <a:avLst/>
          </a:prstGeom>
          <a:noFill/>
        </p:spPr>
        <p:txBody>
          <a:bodyPr wrap="square" lIns="0" rIns="0" tIns="0" bIns="0">
            <a:spAutoFit/>
          </a:bodyPr>
          <a:lstStyle/>
          <a:p>
            <a:pPr>
              <a:defRPr sz="1500" b="0">
                <a:solidFill>
                  <a:srgbClr val="A9BAD0"/>
                </a:solidFill>
                <a:latin typeface="맑은 고딕"/>
              </a:defRPr>
            </a:pPr>
            <a:r>
              <a:t>DEPOSIT</a:t>
            </a:r>
          </a:p>
        </p:txBody>
      </p:sp>
      <p:sp>
        <p:nvSpPr>
          <p:cNvPr id="10" name="TextBox 9"/>
          <p:cNvSpPr txBox="1"/>
          <p:nvPr/>
        </p:nvSpPr>
        <p:spPr>
          <a:xfrm>
            <a:off x="932688" y="4279392"/>
            <a:ext cx="3017520" cy="411480"/>
          </a:xfrm>
          <a:prstGeom prst="rect">
            <a:avLst/>
          </a:prstGeom>
          <a:noFill/>
        </p:spPr>
        <p:txBody>
          <a:bodyPr wrap="square" lIns="0" rIns="0" tIns="0" bIns="0">
            <a:spAutoFit/>
          </a:bodyPr>
          <a:lstStyle/>
          <a:p>
            <a:pPr>
              <a:defRPr sz="1800" b="0">
                <a:solidFill>
                  <a:srgbClr val="F3F6FA"/>
                </a:solidFill>
                <a:latin typeface="맑은 고딕"/>
              </a:defRPr>
            </a:pPr>
            <a:r>
              <a:t>Alice note 잔액 10</a:t>
            </a:r>
          </a:p>
        </p:txBody>
      </p:sp>
      <p:sp>
        <p:nvSpPr>
          <p:cNvPr id="11" name="Rectangle 10"/>
          <p:cNvSpPr/>
          <p:nvPr/>
        </p:nvSpPr>
        <p:spPr>
          <a:xfrm>
            <a:off x="4434840" y="2743200"/>
            <a:ext cx="3474720" cy="2148840"/>
          </a:xfrm>
          <a:prstGeom prst="rect">
            <a:avLst/>
          </a:prstGeom>
          <a:solidFill>
            <a:srgbClr val="1A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36007" y="2907792"/>
            <a:ext cx="3017520" cy="777240"/>
          </a:xfrm>
          <a:prstGeom prst="rect">
            <a:avLst/>
          </a:prstGeom>
          <a:noFill/>
        </p:spPr>
        <p:txBody>
          <a:bodyPr wrap="square" lIns="0" rIns="0" tIns="0" bIns="0">
            <a:spAutoFit/>
          </a:bodyPr>
          <a:lstStyle/>
          <a:p>
            <a:pPr>
              <a:defRPr sz="4400" b="1">
                <a:solidFill>
                  <a:srgbClr val="BDABFF"/>
                </a:solidFill>
                <a:latin typeface="맑은 고딕"/>
              </a:defRPr>
            </a:pPr>
            <a:r>
              <a:t>7</a:t>
            </a:r>
          </a:p>
        </p:txBody>
      </p:sp>
      <p:sp>
        <p:nvSpPr>
          <p:cNvPr id="13" name="TextBox 12"/>
          <p:cNvSpPr txBox="1"/>
          <p:nvPr/>
        </p:nvSpPr>
        <p:spPr>
          <a:xfrm>
            <a:off x="4636007" y="3785615"/>
            <a:ext cx="3017520" cy="365760"/>
          </a:xfrm>
          <a:prstGeom prst="rect">
            <a:avLst/>
          </a:prstGeom>
          <a:noFill/>
        </p:spPr>
        <p:txBody>
          <a:bodyPr wrap="square" lIns="0" rIns="0" tIns="0" bIns="0">
            <a:spAutoFit/>
          </a:bodyPr>
          <a:lstStyle/>
          <a:p>
            <a:pPr>
              <a:defRPr sz="1500" b="0">
                <a:solidFill>
                  <a:srgbClr val="A9BAD0"/>
                </a:solidFill>
                <a:latin typeface="맑은 고딕"/>
              </a:defRPr>
            </a:pPr>
            <a:r>
              <a:t>TRANSFER</a:t>
            </a:r>
          </a:p>
        </p:txBody>
      </p:sp>
      <p:sp>
        <p:nvSpPr>
          <p:cNvPr id="14" name="TextBox 13"/>
          <p:cNvSpPr txBox="1"/>
          <p:nvPr/>
        </p:nvSpPr>
        <p:spPr>
          <a:xfrm>
            <a:off x="4636007" y="4279392"/>
            <a:ext cx="3017520" cy="411480"/>
          </a:xfrm>
          <a:prstGeom prst="rect">
            <a:avLst/>
          </a:prstGeom>
          <a:noFill/>
        </p:spPr>
        <p:txBody>
          <a:bodyPr wrap="square" lIns="0" rIns="0" tIns="0" bIns="0">
            <a:spAutoFit/>
          </a:bodyPr>
          <a:lstStyle/>
          <a:p>
            <a:pPr>
              <a:defRPr sz="1800" b="0">
                <a:solidFill>
                  <a:srgbClr val="F3F6FA"/>
                </a:solidFill>
                <a:latin typeface="맑은 고딕"/>
              </a:defRPr>
            </a:pPr>
            <a:r>
              <a:t>Bob에게 7 uclair 지급</a:t>
            </a:r>
          </a:p>
        </p:txBody>
      </p:sp>
      <p:sp>
        <p:nvSpPr>
          <p:cNvPr id="15" name="Rectangle 14"/>
          <p:cNvSpPr/>
          <p:nvPr/>
        </p:nvSpPr>
        <p:spPr>
          <a:xfrm>
            <a:off x="8138160" y="2743200"/>
            <a:ext cx="3474720" cy="2148840"/>
          </a:xfrm>
          <a:prstGeom prst="rect">
            <a:avLst/>
          </a:prstGeom>
          <a:solidFill>
            <a:srgbClr val="1A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39328" y="2907792"/>
            <a:ext cx="3017520" cy="777240"/>
          </a:xfrm>
          <a:prstGeom prst="rect">
            <a:avLst/>
          </a:prstGeom>
          <a:noFill/>
        </p:spPr>
        <p:txBody>
          <a:bodyPr wrap="square" lIns="0" rIns="0" tIns="0" bIns="0">
            <a:spAutoFit/>
          </a:bodyPr>
          <a:lstStyle/>
          <a:p>
            <a:pPr>
              <a:defRPr sz="4400" b="1">
                <a:solidFill>
                  <a:srgbClr val="BDABFF"/>
                </a:solidFill>
                <a:latin typeface="맑은 고딕"/>
              </a:defRPr>
            </a:pPr>
            <a:r>
              <a:t>3 + 7</a:t>
            </a:r>
          </a:p>
        </p:txBody>
      </p:sp>
      <p:sp>
        <p:nvSpPr>
          <p:cNvPr id="17" name="TextBox 16"/>
          <p:cNvSpPr txBox="1"/>
          <p:nvPr/>
        </p:nvSpPr>
        <p:spPr>
          <a:xfrm>
            <a:off x="8339328" y="3785615"/>
            <a:ext cx="3017520" cy="365760"/>
          </a:xfrm>
          <a:prstGeom prst="rect">
            <a:avLst/>
          </a:prstGeom>
          <a:noFill/>
        </p:spPr>
        <p:txBody>
          <a:bodyPr wrap="square" lIns="0" rIns="0" tIns="0" bIns="0">
            <a:spAutoFit/>
          </a:bodyPr>
          <a:lstStyle/>
          <a:p>
            <a:pPr>
              <a:defRPr sz="1500" b="0">
                <a:solidFill>
                  <a:srgbClr val="A9BAD0"/>
                </a:solidFill>
                <a:latin typeface="맑은 고딕"/>
              </a:defRPr>
            </a:pPr>
            <a:r>
              <a:t>SCAN</a:t>
            </a:r>
          </a:p>
        </p:txBody>
      </p:sp>
      <p:sp>
        <p:nvSpPr>
          <p:cNvPr id="18" name="TextBox 17"/>
          <p:cNvSpPr txBox="1"/>
          <p:nvPr/>
        </p:nvSpPr>
        <p:spPr>
          <a:xfrm>
            <a:off x="8339328" y="4279392"/>
            <a:ext cx="3017520" cy="411480"/>
          </a:xfrm>
          <a:prstGeom prst="rect">
            <a:avLst/>
          </a:prstGeom>
          <a:noFill/>
        </p:spPr>
        <p:txBody>
          <a:bodyPr wrap="square" lIns="0" rIns="0" tIns="0" bIns="0">
            <a:spAutoFit/>
          </a:bodyPr>
          <a:lstStyle/>
          <a:p>
            <a:pPr>
              <a:defRPr sz="1800" b="0">
                <a:solidFill>
                  <a:srgbClr val="F3F6FA"/>
                </a:solidFill>
                <a:latin typeface="맑은 고딕"/>
              </a:defRPr>
            </a:pPr>
            <a:r>
              <a:t>Alice 3 / Bob 7</a:t>
            </a:r>
          </a:p>
        </p:txBody>
      </p:sp>
      <p:sp>
        <p:nvSpPr>
          <p:cNvPr id="19" name="TextBox 18"/>
          <p:cNvSpPr txBox="1"/>
          <p:nvPr/>
        </p:nvSpPr>
        <p:spPr>
          <a:xfrm>
            <a:off x="731520" y="5230368"/>
            <a:ext cx="7315200" cy="548640"/>
          </a:xfrm>
          <a:prstGeom prst="rect">
            <a:avLst/>
          </a:prstGeom>
          <a:noFill/>
        </p:spPr>
        <p:txBody>
          <a:bodyPr wrap="square" lIns="0" rIns="0" tIns="0" bIns="0">
            <a:spAutoFit/>
          </a:bodyPr>
          <a:lstStyle/>
          <a:p>
            <a:pPr>
              <a:defRPr sz="2300" b="1">
                <a:solidFill>
                  <a:srgbClr val="BDABFF"/>
                </a:solidFill>
                <a:latin typeface="맑은 고딕"/>
              </a:defRPr>
            </a:pPr>
            <a:r>
              <a:rPr>
                <a:hlinkClick r:id="rId2"/>
              </a:rPr>
              <a:t>로컬 실습 커맨드 열기 ↗</a:t>
            </a:r>
          </a:p>
        </p:txBody>
      </p:sp>
      <p:sp>
        <p:nvSpPr>
          <p:cNvPr id="20" name="TextBox 19"/>
          <p:cNvSpPr txBox="1"/>
          <p:nvPr/>
        </p:nvSpPr>
        <p:spPr>
          <a:xfrm>
            <a:off x="640080" y="6519672"/>
            <a:ext cx="9144000" cy="182880"/>
          </a:xfrm>
          <a:prstGeom prst="rect">
            <a:avLst/>
          </a:prstGeom>
          <a:noFill/>
        </p:spPr>
        <p:txBody>
          <a:bodyPr wrap="square" lIns="0" rIns="0" tIns="0" bIns="0">
            <a:spAutoFit/>
          </a:bodyPr>
          <a:lstStyle/>
          <a:p>
            <a:pPr>
              <a:defRPr sz="1000" b="0">
                <a:solidFill>
                  <a:srgbClr val="A9BAD0"/>
                </a:solidFill>
                <a:latin typeface="맑은 고딕"/>
              </a:defRPr>
            </a:pPr>
            <a:r>
              <a:t>MAROO WORKSHOP / 설명 10장 · 실습은 웹사이트</a:t>
            </a:r>
          </a:p>
        </p:txBody>
      </p:sp>
      <p:sp>
        <p:nvSpPr>
          <p:cNvPr id="21" name="TextBox 20"/>
          <p:cNvSpPr txBox="1"/>
          <p:nvPr/>
        </p:nvSpPr>
        <p:spPr>
          <a:xfrm>
            <a:off x="10698480" y="6519672"/>
            <a:ext cx="914400" cy="182880"/>
          </a:xfrm>
          <a:prstGeom prst="rect">
            <a:avLst/>
          </a:prstGeom>
          <a:noFill/>
        </p:spPr>
        <p:txBody>
          <a:bodyPr wrap="square" lIns="0" rIns="0" tIns="0" bIns="0">
            <a:spAutoFit/>
          </a:bodyPr>
          <a:lstStyle/>
          <a:p>
            <a:pPr>
              <a:defRPr sz="1000" b="0">
                <a:solidFill>
                  <a:srgbClr val="A9BAD0"/>
                </a:solidFill>
                <a:latin typeface="맑은 고딕"/>
              </a:defRPr>
            </a:pPr>
            <a:r>
              <a:t>08 / 10</a:t>
            </a:r>
          </a:p>
        </p:txBody>
      </p:sp>
      <p:sp>
        <p:nvSpPr>
          <p:cNvPr id="22" name="Rectangle 21"/>
          <p:cNvSpPr/>
          <p:nvPr/>
        </p:nvSpPr>
        <p:spPr>
          <a:xfrm>
            <a:off x="640080" y="6382512"/>
            <a:ext cx="10899648" cy="13716"/>
          </a:xfrm>
          <a:prstGeom prst="rect">
            <a:avLst/>
          </a:prstGeom>
          <a:solidFill>
            <a:srgbClr val="1A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8368" y="6080760"/>
            <a:ext cx="1828800" cy="228600"/>
          </a:xfrm>
          <a:prstGeom prst="rect">
            <a:avLst/>
          </a:prstGeom>
          <a:noFill/>
        </p:spPr>
        <p:txBody>
          <a:bodyPr wrap="square" lIns="0" rIns="0" tIns="0" bIns="0">
            <a:spAutoFit/>
          </a:bodyPr>
          <a:lstStyle/>
          <a:p>
            <a:pPr>
              <a:defRPr sz="1100" b="0">
                <a:solidFill>
                  <a:srgbClr val="A9BAD0"/>
                </a:solidFill>
                <a:latin typeface="맑은 고딕"/>
              </a:defRPr>
            </a:pPr>
            <a:r>
              <a:rPr>
                <a:hlinkClick r:id="rId3"/>
              </a:rPr>
              <a:t>참고자료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8229600" cy="274320"/>
          </a:xfrm>
          <a:prstGeom prst="rect">
            <a:avLst/>
          </a:prstGeom>
          <a:noFill/>
        </p:spPr>
        <p:txBody>
          <a:bodyPr wrap="square" lIns="0" rIns="0" tIns="0" bIns="0">
            <a:spAutoFit/>
          </a:bodyPr>
          <a:lstStyle/>
          <a:p>
            <a:pPr>
              <a:defRPr sz="1200" b="1">
                <a:solidFill>
                  <a:srgbClr val="58D6BD"/>
                </a:solidFill>
                <a:latin typeface="맑은 고딕"/>
              </a:defRPr>
            </a:pPr>
            <a:r>
              <a:t>EVIDENCE &amp; DIAGNOSIS</a:t>
            </a:r>
          </a:p>
        </p:txBody>
      </p:sp>
      <p:sp>
        <p:nvSpPr>
          <p:cNvPr id="4" name="TextBox 3"/>
          <p:cNvSpPr txBox="1"/>
          <p:nvPr/>
        </p:nvSpPr>
        <p:spPr>
          <a:xfrm>
            <a:off x="9784080" y="411480"/>
            <a:ext cx="1828800" cy="274320"/>
          </a:xfrm>
          <a:prstGeom prst="rect">
            <a:avLst/>
          </a:prstGeom>
          <a:noFill/>
        </p:spPr>
        <p:txBody>
          <a:bodyPr wrap="square" lIns="0" rIns="0" tIns="0" bIns="0">
            <a:spAutoFit/>
          </a:bodyPr>
          <a:lstStyle/>
          <a:p>
            <a:pPr>
              <a:defRPr sz="1200" b="0">
                <a:solidFill>
                  <a:srgbClr val="A9BAD0"/>
                </a:solidFill>
                <a:latin typeface="맑은 고딕"/>
              </a:defRPr>
            </a:pPr>
            <a:r>
              <a:t>62–68 MIN</a:t>
            </a:r>
          </a:p>
        </p:txBody>
      </p:sp>
      <p:sp>
        <p:nvSpPr>
          <p:cNvPr id="5" name="TextBox 4"/>
          <p:cNvSpPr txBox="1"/>
          <p:nvPr/>
        </p:nvSpPr>
        <p:spPr>
          <a:xfrm>
            <a:off x="640080" y="932688"/>
            <a:ext cx="10927080" cy="1005840"/>
          </a:xfrm>
          <a:prstGeom prst="rect">
            <a:avLst/>
          </a:prstGeom>
          <a:noFill/>
        </p:spPr>
        <p:txBody>
          <a:bodyPr wrap="square" lIns="0" rIns="0" tIns="0" bIns="0">
            <a:spAutoFit/>
          </a:bodyPr>
          <a:lstStyle/>
          <a:p>
            <a:pPr>
              <a:defRPr sz="3000" b="1">
                <a:solidFill>
                  <a:srgbClr val="F3F6FA"/>
                </a:solidFill>
                <a:latin typeface="맑은 고딕"/>
              </a:defRPr>
            </a:pPr>
            <a:r>
              <a:t>해시만으로 성공을 판단하지 않습니다</a:t>
            </a:r>
          </a:p>
        </p:txBody>
      </p:sp>
      <p:sp>
        <p:nvSpPr>
          <p:cNvPr id="6" name="TextBox 5"/>
          <p:cNvSpPr txBox="1"/>
          <p:nvPr/>
        </p:nvSpPr>
        <p:spPr>
          <a:xfrm>
            <a:off x="658368" y="1938528"/>
            <a:ext cx="10881360" cy="548640"/>
          </a:xfrm>
          <a:prstGeom prst="rect">
            <a:avLst/>
          </a:prstGeom>
          <a:noFill/>
        </p:spPr>
        <p:txBody>
          <a:bodyPr wrap="square" lIns="0" rIns="0" tIns="0" bIns="0">
            <a:spAutoFit/>
          </a:bodyPr>
          <a:lstStyle/>
          <a:p>
            <a:pPr>
              <a:defRPr sz="1800" b="0">
                <a:solidFill>
                  <a:srgbClr val="A9BAD0"/>
                </a:solidFill>
                <a:latin typeface="맑은 고딕"/>
              </a:defRPr>
            </a:pPr>
            <a:r>
              <a:t>정상 지급 · 정책 거절 · 환경 오류를 구분합니다</a:t>
            </a:r>
          </a:p>
        </p:txBody>
      </p:sp>
      <p:sp>
        <p:nvSpPr>
          <p:cNvPr id="7" name="Rectangle 6"/>
          <p:cNvSpPr/>
          <p:nvPr/>
        </p:nvSpPr>
        <p:spPr>
          <a:xfrm>
            <a:off x="640080" y="2743200"/>
            <a:ext cx="3511296" cy="2011680"/>
          </a:xfrm>
          <a:prstGeom prst="rect">
            <a:avLst/>
          </a:prstGeom>
          <a:solidFill>
            <a:srgbClr val="1A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2743200"/>
            <a:ext cx="32004" cy="2011680"/>
          </a:xfrm>
          <a:prstGeom prst="rect">
            <a:avLst/>
          </a:prstGeom>
          <a:solidFill>
            <a:srgbClr val="58D6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1" y="2880360"/>
            <a:ext cx="3182112" cy="411480"/>
          </a:xfrm>
          <a:prstGeom prst="rect">
            <a:avLst/>
          </a:prstGeom>
          <a:noFill/>
        </p:spPr>
        <p:txBody>
          <a:bodyPr wrap="square" lIns="0" rIns="0" tIns="0" bIns="0">
            <a:spAutoFit/>
          </a:bodyPr>
          <a:lstStyle/>
          <a:p>
            <a:pPr>
              <a:defRPr sz="1800" b="1">
                <a:solidFill>
                  <a:srgbClr val="58D6BD"/>
                </a:solidFill>
                <a:latin typeface="맑은 고딕"/>
              </a:defRPr>
            </a:pPr>
            <a:r>
              <a:t>실행 근거</a:t>
            </a:r>
          </a:p>
        </p:txBody>
      </p:sp>
      <p:sp>
        <p:nvSpPr>
          <p:cNvPr id="10" name="TextBox 9"/>
          <p:cNvSpPr txBox="1"/>
          <p:nvPr/>
        </p:nvSpPr>
        <p:spPr>
          <a:xfrm>
            <a:off x="804671" y="3383280"/>
            <a:ext cx="3182112" cy="1344168"/>
          </a:xfrm>
          <a:prstGeom prst="rect">
            <a:avLst/>
          </a:prstGeom>
          <a:noFill/>
        </p:spPr>
        <p:txBody>
          <a:bodyPr wrap="square" lIns="0" rIns="0" tIns="0" bIns="0">
            <a:spAutoFit/>
          </a:bodyPr>
          <a:lstStyle/>
          <a:p>
            <a:pPr>
              <a:defRPr sz="1500" b="0">
                <a:solidFill>
                  <a:srgbClr val="F3F6FA"/>
                </a:solidFill>
                <a:latin typeface="맑은 고딕"/>
              </a:defRPr>
            </a:pPr>
            <a:r>
              <a:t>포함 영수증 · 이벤트</a:t>
            </a:r>
          </a:p>
          <a:p>
            <a:pPr>
              <a:defRPr sz="1500" b="0">
                <a:solidFill>
                  <a:srgbClr val="F3F6FA"/>
                </a:solidFill>
                <a:latin typeface="맑은 고딕"/>
              </a:defRPr>
            </a:pPr>
            <a:r>
              <a:t>수신자 상태 변화</a:t>
            </a:r>
          </a:p>
        </p:txBody>
      </p:sp>
      <p:sp>
        <p:nvSpPr>
          <p:cNvPr id="11" name="Rectangle 10"/>
          <p:cNvSpPr/>
          <p:nvPr/>
        </p:nvSpPr>
        <p:spPr>
          <a:xfrm>
            <a:off x="4334256" y="2743200"/>
            <a:ext cx="3511296" cy="2011680"/>
          </a:xfrm>
          <a:prstGeom prst="rect">
            <a:avLst/>
          </a:prstGeom>
          <a:solidFill>
            <a:srgbClr val="1A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4256" y="2743200"/>
            <a:ext cx="32004" cy="2011680"/>
          </a:xfrm>
          <a:prstGeom prst="rect">
            <a:avLst/>
          </a:prstGeom>
          <a:solidFill>
            <a:srgbClr val="FFBD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98848" y="2880360"/>
            <a:ext cx="3182112" cy="411480"/>
          </a:xfrm>
          <a:prstGeom prst="rect">
            <a:avLst/>
          </a:prstGeom>
          <a:noFill/>
        </p:spPr>
        <p:txBody>
          <a:bodyPr wrap="square" lIns="0" rIns="0" tIns="0" bIns="0">
            <a:spAutoFit/>
          </a:bodyPr>
          <a:lstStyle/>
          <a:p>
            <a:pPr>
              <a:defRPr sz="1800" b="1">
                <a:solidFill>
                  <a:srgbClr val="FFBD69"/>
                </a:solidFill>
                <a:latin typeface="맑은 고딕"/>
              </a:defRPr>
            </a:pPr>
            <a:r>
              <a:t>실패 해석</a:t>
            </a:r>
          </a:p>
        </p:txBody>
      </p:sp>
      <p:sp>
        <p:nvSpPr>
          <p:cNvPr id="14" name="TextBox 13"/>
          <p:cNvSpPr txBox="1"/>
          <p:nvPr/>
        </p:nvSpPr>
        <p:spPr>
          <a:xfrm>
            <a:off x="4498848" y="3383280"/>
            <a:ext cx="3182112" cy="1344168"/>
          </a:xfrm>
          <a:prstGeom prst="rect">
            <a:avLst/>
          </a:prstGeom>
          <a:noFill/>
        </p:spPr>
        <p:txBody>
          <a:bodyPr wrap="square" lIns="0" rIns="0" tIns="0" bIns="0">
            <a:spAutoFit/>
          </a:bodyPr>
          <a:lstStyle/>
          <a:p>
            <a:pPr>
              <a:defRPr sz="1500" b="0">
                <a:solidFill>
                  <a:srgbClr val="F3F6FA"/>
                </a:solidFill>
                <a:latin typeface="맑은 고딕"/>
              </a:defRPr>
            </a:pPr>
            <a:r>
              <a:t>Raw → 공식 ABI 디코딩</a:t>
            </a:r>
          </a:p>
          <a:p>
            <a:pPr>
              <a:defRPr sz="1500" b="0">
                <a:solidFill>
                  <a:srgbClr val="F3F6FA"/>
                </a:solidFill>
                <a:latin typeface="맑은 고딕"/>
              </a:defRPr>
            </a:pPr>
            <a:r>
              <a:t>인덱싱·자격 유효성 확인</a:t>
            </a:r>
          </a:p>
        </p:txBody>
      </p:sp>
      <p:sp>
        <p:nvSpPr>
          <p:cNvPr id="15" name="Rectangle 14"/>
          <p:cNvSpPr/>
          <p:nvPr/>
        </p:nvSpPr>
        <p:spPr>
          <a:xfrm>
            <a:off x="8028431" y="2743200"/>
            <a:ext cx="3511296" cy="2011680"/>
          </a:xfrm>
          <a:prstGeom prst="rect">
            <a:avLst/>
          </a:prstGeom>
          <a:solidFill>
            <a:srgbClr val="1A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28431" y="2743200"/>
            <a:ext cx="32004" cy="2011680"/>
          </a:xfrm>
          <a:prstGeom prst="rect">
            <a:avLst/>
          </a:prstGeom>
          <a:solidFill>
            <a:srgbClr val="BDA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93023" y="2880360"/>
            <a:ext cx="3182112" cy="411480"/>
          </a:xfrm>
          <a:prstGeom prst="rect">
            <a:avLst/>
          </a:prstGeom>
          <a:noFill/>
        </p:spPr>
        <p:txBody>
          <a:bodyPr wrap="square" lIns="0" rIns="0" tIns="0" bIns="0">
            <a:spAutoFit/>
          </a:bodyPr>
          <a:lstStyle/>
          <a:p>
            <a:pPr>
              <a:defRPr sz="1800" b="1">
                <a:solidFill>
                  <a:srgbClr val="BDABFF"/>
                </a:solidFill>
                <a:latin typeface="맑은 고딕"/>
              </a:defRPr>
            </a:pPr>
            <a:r>
              <a:t>해석 경계</a:t>
            </a:r>
          </a:p>
        </p:txBody>
      </p:sp>
      <p:sp>
        <p:nvSpPr>
          <p:cNvPr id="18" name="TextBox 17"/>
          <p:cNvSpPr txBox="1"/>
          <p:nvPr/>
        </p:nvSpPr>
        <p:spPr>
          <a:xfrm>
            <a:off x="8193023" y="3383280"/>
            <a:ext cx="3182112" cy="1344168"/>
          </a:xfrm>
          <a:prstGeom prst="rect">
            <a:avLst/>
          </a:prstGeom>
          <a:noFill/>
        </p:spPr>
        <p:txBody>
          <a:bodyPr wrap="square" lIns="0" rIns="0" tIns="0" bIns="0">
            <a:spAutoFit/>
          </a:bodyPr>
          <a:lstStyle/>
          <a:p>
            <a:pPr>
              <a:defRPr sz="1500" b="0">
                <a:solidFill>
                  <a:srgbClr val="F3F6FA"/>
                </a:solidFill>
                <a:latin typeface="맑은 고딕"/>
              </a:defRPr>
            </a:pPr>
            <a:r>
              <a:t>자체 발급 실습 자격</a:t>
            </a:r>
          </a:p>
          <a:p>
            <a:pPr>
              <a:defRPr sz="1500" b="0">
                <a:solidFill>
                  <a:srgbClr val="F3F6FA"/>
                </a:solidFill>
                <a:latin typeface="맑은 고딕"/>
              </a:defRPr>
            </a:pPr>
            <a:r>
              <a:t>로컬 결과 ≠ Maroo Privacy</a:t>
            </a:r>
          </a:p>
        </p:txBody>
      </p:sp>
      <p:sp>
        <p:nvSpPr>
          <p:cNvPr id="19" name="TextBox 18"/>
          <p:cNvSpPr txBox="1"/>
          <p:nvPr/>
        </p:nvSpPr>
        <p:spPr>
          <a:xfrm>
            <a:off x="731520" y="5212080"/>
            <a:ext cx="10515600" cy="548640"/>
          </a:xfrm>
          <a:prstGeom prst="rect">
            <a:avLst/>
          </a:prstGeom>
          <a:noFill/>
        </p:spPr>
        <p:txBody>
          <a:bodyPr wrap="square" lIns="0" rIns="0" tIns="0" bIns="0">
            <a:spAutoFit/>
          </a:bodyPr>
          <a:lstStyle/>
          <a:p>
            <a:pPr>
              <a:defRPr sz="2100" b="0">
                <a:solidFill>
                  <a:srgbClr val="58D6BD"/>
                </a:solidFill>
                <a:latin typeface="맑은 고딕"/>
              </a:defRPr>
            </a:pPr>
            <a:r>
              <a:t>직접 성공 / 직접 실패 / 미시도 / 기존 증거 분석</a:t>
            </a:r>
          </a:p>
        </p:txBody>
      </p:sp>
      <p:sp>
        <p:nvSpPr>
          <p:cNvPr id="20" name="TextBox 19"/>
          <p:cNvSpPr txBox="1"/>
          <p:nvPr/>
        </p:nvSpPr>
        <p:spPr>
          <a:xfrm>
            <a:off x="640080" y="6519672"/>
            <a:ext cx="9144000" cy="182880"/>
          </a:xfrm>
          <a:prstGeom prst="rect">
            <a:avLst/>
          </a:prstGeom>
          <a:noFill/>
        </p:spPr>
        <p:txBody>
          <a:bodyPr wrap="square" lIns="0" rIns="0" tIns="0" bIns="0">
            <a:spAutoFit/>
          </a:bodyPr>
          <a:lstStyle/>
          <a:p>
            <a:pPr>
              <a:defRPr sz="1000" b="0">
                <a:solidFill>
                  <a:srgbClr val="A9BAD0"/>
                </a:solidFill>
                <a:latin typeface="맑은 고딕"/>
              </a:defRPr>
            </a:pPr>
            <a:r>
              <a:t>MAROO WORKSHOP / 설명 10장 · 실습은 웹사이트</a:t>
            </a:r>
          </a:p>
        </p:txBody>
      </p:sp>
      <p:sp>
        <p:nvSpPr>
          <p:cNvPr id="21" name="TextBox 20"/>
          <p:cNvSpPr txBox="1"/>
          <p:nvPr/>
        </p:nvSpPr>
        <p:spPr>
          <a:xfrm>
            <a:off x="10698480" y="6519672"/>
            <a:ext cx="914400" cy="182880"/>
          </a:xfrm>
          <a:prstGeom prst="rect">
            <a:avLst/>
          </a:prstGeom>
          <a:noFill/>
        </p:spPr>
        <p:txBody>
          <a:bodyPr wrap="square" lIns="0" rIns="0" tIns="0" bIns="0">
            <a:spAutoFit/>
          </a:bodyPr>
          <a:lstStyle/>
          <a:p>
            <a:pPr>
              <a:defRPr sz="1000" b="0">
                <a:solidFill>
                  <a:srgbClr val="A9BAD0"/>
                </a:solidFill>
                <a:latin typeface="맑은 고딕"/>
              </a:defRPr>
            </a:pPr>
            <a:r>
              <a:t>09 / 10</a:t>
            </a:r>
          </a:p>
        </p:txBody>
      </p:sp>
      <p:sp>
        <p:nvSpPr>
          <p:cNvPr id="22" name="Rectangle 21"/>
          <p:cNvSpPr/>
          <p:nvPr/>
        </p:nvSpPr>
        <p:spPr>
          <a:xfrm>
            <a:off x="640080" y="6382512"/>
            <a:ext cx="10899648" cy="13716"/>
          </a:xfrm>
          <a:prstGeom prst="rect">
            <a:avLst/>
          </a:prstGeom>
          <a:solidFill>
            <a:srgbClr val="1A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8368" y="6080760"/>
            <a:ext cx="1828800" cy="228600"/>
          </a:xfrm>
          <a:prstGeom prst="rect">
            <a:avLst/>
          </a:prstGeom>
          <a:noFill/>
        </p:spPr>
        <p:txBody>
          <a:bodyPr wrap="square" lIns="0" rIns="0" tIns="0" bIns="0">
            <a:spAutoFit/>
          </a:bodyPr>
          <a:lstStyle/>
          <a:p>
            <a:pPr>
              <a:defRPr sz="1100" b="0">
                <a:solidFill>
                  <a:srgbClr val="A9BAD0"/>
                </a:solidFill>
                <a:latin typeface="맑은 고딕"/>
              </a:defRPr>
            </a:pPr>
            <a:r>
              <a:rPr>
                <a:hlinkClick r:id="rId2"/>
              </a:rPr>
              <a:t>참고자료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8229600" cy="274320"/>
          </a:xfrm>
          <a:prstGeom prst="rect">
            <a:avLst/>
          </a:prstGeom>
          <a:noFill/>
        </p:spPr>
        <p:txBody>
          <a:bodyPr wrap="square" lIns="0" rIns="0" tIns="0" bIns="0">
            <a:spAutoFit/>
          </a:bodyPr>
          <a:lstStyle/>
          <a:p>
            <a:pPr>
              <a:defRPr sz="1200" b="1">
                <a:solidFill>
                  <a:srgbClr val="58D6BD"/>
                </a:solidFill>
                <a:latin typeface="맑은 고딕"/>
              </a:defRPr>
            </a:pPr>
            <a:r>
              <a:t>LINKS / 클릭하여 열기</a:t>
            </a:r>
          </a:p>
        </p:txBody>
      </p:sp>
      <p:sp>
        <p:nvSpPr>
          <p:cNvPr id="4" name="TextBox 3"/>
          <p:cNvSpPr txBox="1"/>
          <p:nvPr/>
        </p:nvSpPr>
        <p:spPr>
          <a:xfrm>
            <a:off x="9784080" y="411480"/>
            <a:ext cx="1828800" cy="274320"/>
          </a:xfrm>
          <a:prstGeom prst="rect">
            <a:avLst/>
          </a:prstGeom>
          <a:noFill/>
        </p:spPr>
        <p:txBody>
          <a:bodyPr wrap="square" lIns="0" rIns="0" tIns="0" bIns="0">
            <a:spAutoFit/>
          </a:bodyPr>
          <a:lstStyle/>
          <a:p>
            <a:pPr>
              <a:defRPr sz="1200" b="0">
                <a:solidFill>
                  <a:srgbClr val="A9BAD0"/>
                </a:solidFill>
                <a:latin typeface="맑은 고딕"/>
              </a:defRPr>
            </a:pPr>
            <a:r>
              <a:t>68–70 MIN</a:t>
            </a:r>
          </a:p>
        </p:txBody>
      </p:sp>
      <p:sp>
        <p:nvSpPr>
          <p:cNvPr id="5" name="TextBox 4"/>
          <p:cNvSpPr txBox="1"/>
          <p:nvPr/>
        </p:nvSpPr>
        <p:spPr>
          <a:xfrm>
            <a:off x="640080" y="932688"/>
            <a:ext cx="10927080" cy="1005840"/>
          </a:xfrm>
          <a:prstGeom prst="rect">
            <a:avLst/>
          </a:prstGeom>
          <a:noFill/>
        </p:spPr>
        <p:txBody>
          <a:bodyPr wrap="square" lIns="0" rIns="0" tIns="0" bIns="0">
            <a:spAutoFit/>
          </a:bodyPr>
          <a:lstStyle/>
          <a:p>
            <a:pPr>
              <a:defRPr sz="3000" b="1">
                <a:solidFill>
                  <a:srgbClr val="F3F6FA"/>
                </a:solidFill>
                <a:latin typeface="맑은 고딕"/>
              </a:defRPr>
            </a:pPr>
            <a:r>
              <a:t>체험과 실습, 참고자료를 구분해 엽니다</a:t>
            </a:r>
          </a:p>
        </p:txBody>
      </p:sp>
      <p:sp>
        <p:nvSpPr>
          <p:cNvPr id="6" name="TextBox 5"/>
          <p:cNvSpPr txBox="1"/>
          <p:nvPr/>
        </p:nvSpPr>
        <p:spPr>
          <a:xfrm>
            <a:off x="658368" y="1938528"/>
            <a:ext cx="10881360" cy="548640"/>
          </a:xfrm>
          <a:prstGeom prst="rect">
            <a:avLst/>
          </a:prstGeom>
          <a:noFill/>
        </p:spPr>
        <p:txBody>
          <a:bodyPr wrap="square" lIns="0" rIns="0" tIns="0" bIns="0">
            <a:spAutoFit/>
          </a:bodyPr>
          <a:lstStyle/>
          <a:p>
            <a:pPr>
              <a:defRPr sz="1800" b="0">
                <a:solidFill>
                  <a:srgbClr val="A9BAD0"/>
                </a:solidFill>
                <a:latin typeface="맑은 고딕"/>
              </a:defRPr>
            </a:pPr>
            <a:r>
              <a:t>체험은 이해를 돕고, 실습·영수증은 실행을 증명합니다</a:t>
            </a:r>
          </a:p>
        </p:txBody>
      </p:sp>
      <p:sp>
        <p:nvSpPr>
          <p:cNvPr id="7" name="Rectangle 6"/>
          <p:cNvSpPr/>
          <p:nvPr/>
        </p:nvSpPr>
        <p:spPr>
          <a:xfrm>
            <a:off x="731520" y="2715768"/>
            <a:ext cx="5257800" cy="886968"/>
          </a:xfrm>
          <a:prstGeom prst="rect">
            <a:avLst/>
          </a:prstGeom>
          <a:solidFill>
            <a:srgbClr val="1A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2825496"/>
            <a:ext cx="4846320" cy="365760"/>
          </a:xfrm>
          <a:prstGeom prst="rect">
            <a:avLst/>
          </a:prstGeom>
          <a:noFill/>
        </p:spPr>
        <p:txBody>
          <a:bodyPr wrap="square" lIns="0" rIns="0" tIns="0" bIns="0">
            <a:spAutoFit/>
          </a:bodyPr>
          <a:lstStyle/>
          <a:p>
            <a:pPr>
              <a:defRPr sz="1900" b="1">
                <a:solidFill>
                  <a:srgbClr val="58D6BD"/>
                </a:solidFill>
                <a:latin typeface="맑은 고딕"/>
              </a:defRPr>
            </a:pPr>
            <a:r>
              <a:rPr>
                <a:hlinkClick r:id="rId2"/>
              </a:rPr>
              <a:t>실습 커맨드 사이트 ↗</a:t>
            </a:r>
          </a:p>
        </p:txBody>
      </p:sp>
      <p:sp>
        <p:nvSpPr>
          <p:cNvPr id="9" name="TextBox 8"/>
          <p:cNvSpPr txBox="1"/>
          <p:nvPr/>
        </p:nvSpPr>
        <p:spPr>
          <a:xfrm>
            <a:off x="896112" y="3255264"/>
            <a:ext cx="4846320" cy="274320"/>
          </a:xfrm>
          <a:prstGeom prst="rect">
            <a:avLst/>
          </a:prstGeom>
          <a:noFill/>
        </p:spPr>
        <p:txBody>
          <a:bodyPr wrap="square" lIns="0" rIns="0" tIns="0" bIns="0">
            <a:spAutoFit/>
          </a:bodyPr>
          <a:lstStyle/>
          <a:p>
            <a:pPr>
              <a:defRPr sz="1300" b="0">
                <a:solidFill>
                  <a:srgbClr val="A9BAD0"/>
                </a:solidFill>
                <a:latin typeface="맑은 고딕"/>
              </a:defRPr>
            </a:pPr>
            <a:r>
              <a:t>복사 버튼 · 실행 순서 · 성공 기준</a:t>
            </a:r>
          </a:p>
        </p:txBody>
      </p:sp>
      <p:sp>
        <p:nvSpPr>
          <p:cNvPr id="10" name="Rectangle 9"/>
          <p:cNvSpPr/>
          <p:nvPr/>
        </p:nvSpPr>
        <p:spPr>
          <a:xfrm>
            <a:off x="6263640" y="2715768"/>
            <a:ext cx="5257800" cy="886968"/>
          </a:xfrm>
          <a:prstGeom prst="rect">
            <a:avLst/>
          </a:prstGeom>
          <a:solidFill>
            <a:srgbClr val="1A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28231" y="2825496"/>
            <a:ext cx="4846320" cy="365760"/>
          </a:xfrm>
          <a:prstGeom prst="rect">
            <a:avLst/>
          </a:prstGeom>
          <a:noFill/>
        </p:spPr>
        <p:txBody>
          <a:bodyPr wrap="square" lIns="0" rIns="0" tIns="0" bIns="0">
            <a:spAutoFit/>
          </a:bodyPr>
          <a:lstStyle/>
          <a:p>
            <a:pPr>
              <a:defRPr sz="1900" b="1">
                <a:solidFill>
                  <a:srgbClr val="58D6BD"/>
                </a:solidFill>
                <a:latin typeface="맑은 고딕"/>
              </a:defRPr>
            </a:pPr>
            <a:r>
              <a:rPr>
                <a:hlinkClick r:id="rId3"/>
              </a:rPr>
              <a:t>Maroo Experience ↗</a:t>
            </a:r>
          </a:p>
        </p:txBody>
      </p:sp>
      <p:sp>
        <p:nvSpPr>
          <p:cNvPr id="12" name="TextBox 11"/>
          <p:cNvSpPr txBox="1"/>
          <p:nvPr/>
        </p:nvSpPr>
        <p:spPr>
          <a:xfrm>
            <a:off x="6428231" y="3255264"/>
            <a:ext cx="4846320" cy="274320"/>
          </a:xfrm>
          <a:prstGeom prst="rect">
            <a:avLst/>
          </a:prstGeom>
          <a:noFill/>
        </p:spPr>
        <p:txBody>
          <a:bodyPr wrap="square" lIns="0" rIns="0" tIns="0" bIns="0">
            <a:spAutoFit/>
          </a:bodyPr>
          <a:lstStyle/>
          <a:p>
            <a:pPr>
              <a:defRPr sz="1300" b="0">
                <a:solidFill>
                  <a:srgbClr val="A9BAD0"/>
                </a:solidFill>
                <a:latin typeface="맑은 고딕"/>
              </a:defRPr>
            </a:pPr>
            <a:r>
              <a:t>사용자가 경험한 경로는 시뮬레이션</a:t>
            </a:r>
          </a:p>
        </p:txBody>
      </p:sp>
      <p:sp>
        <p:nvSpPr>
          <p:cNvPr id="13" name="Rectangle 12"/>
          <p:cNvSpPr/>
          <p:nvPr/>
        </p:nvSpPr>
        <p:spPr>
          <a:xfrm>
            <a:off x="731520" y="3749039"/>
            <a:ext cx="5257800" cy="886968"/>
          </a:xfrm>
          <a:prstGeom prst="rect">
            <a:avLst/>
          </a:prstGeom>
          <a:solidFill>
            <a:srgbClr val="1A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6112" y="3858768"/>
            <a:ext cx="4846320" cy="365760"/>
          </a:xfrm>
          <a:prstGeom prst="rect">
            <a:avLst/>
          </a:prstGeom>
          <a:noFill/>
        </p:spPr>
        <p:txBody>
          <a:bodyPr wrap="square" lIns="0" rIns="0" tIns="0" bIns="0">
            <a:spAutoFit/>
          </a:bodyPr>
          <a:lstStyle/>
          <a:p>
            <a:pPr>
              <a:defRPr sz="1900" b="1">
                <a:solidFill>
                  <a:srgbClr val="58D6BD"/>
                </a:solidFill>
                <a:latin typeface="맑은 고딕"/>
              </a:defRPr>
            </a:pPr>
            <a:r>
              <a:rPr>
                <a:hlinkClick r:id="rId4"/>
              </a:rPr>
              <a:t>PCL 구조 문서 ↗</a:t>
            </a:r>
          </a:p>
        </p:txBody>
      </p:sp>
      <p:sp>
        <p:nvSpPr>
          <p:cNvPr id="15" name="TextBox 14"/>
          <p:cNvSpPr txBox="1"/>
          <p:nvPr/>
        </p:nvSpPr>
        <p:spPr>
          <a:xfrm>
            <a:off x="896112" y="4288536"/>
            <a:ext cx="4846320" cy="274320"/>
          </a:xfrm>
          <a:prstGeom prst="rect">
            <a:avLst/>
          </a:prstGeom>
          <a:noFill/>
        </p:spPr>
        <p:txBody>
          <a:bodyPr wrap="square" lIns="0" rIns="0" tIns="0" bIns="0">
            <a:spAutoFit/>
          </a:bodyPr>
          <a:lstStyle/>
          <a:p>
            <a:pPr>
              <a:defRPr sz="1300" b="0">
                <a:solidFill>
                  <a:srgbClr val="A9BAD0"/>
                </a:solidFill>
                <a:latin typeface="맑은 고딕"/>
              </a:defRPr>
            </a:pPr>
            <a:r>
              <a:t>프록시 · preCall · postCall</a:t>
            </a:r>
          </a:p>
        </p:txBody>
      </p:sp>
      <p:sp>
        <p:nvSpPr>
          <p:cNvPr id="16" name="Rectangle 15"/>
          <p:cNvSpPr/>
          <p:nvPr/>
        </p:nvSpPr>
        <p:spPr>
          <a:xfrm>
            <a:off x="6263640" y="3749039"/>
            <a:ext cx="5257800" cy="886968"/>
          </a:xfrm>
          <a:prstGeom prst="rect">
            <a:avLst/>
          </a:prstGeom>
          <a:solidFill>
            <a:srgbClr val="1A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8231" y="3858768"/>
            <a:ext cx="4846320" cy="365760"/>
          </a:xfrm>
          <a:prstGeom prst="rect">
            <a:avLst/>
          </a:prstGeom>
          <a:noFill/>
        </p:spPr>
        <p:txBody>
          <a:bodyPr wrap="square" lIns="0" rIns="0" tIns="0" bIns="0">
            <a:spAutoFit/>
          </a:bodyPr>
          <a:lstStyle/>
          <a:p>
            <a:pPr>
              <a:defRPr sz="1900" b="1">
                <a:solidFill>
                  <a:srgbClr val="58D6BD"/>
                </a:solidFill>
                <a:latin typeface="맑은 고딕"/>
              </a:defRPr>
            </a:pPr>
            <a:r>
              <a:rPr>
                <a:hlinkClick r:id="rId5"/>
              </a:rPr>
              <a:t>EAS 튜토리얼 ↗</a:t>
            </a:r>
          </a:p>
        </p:txBody>
      </p:sp>
      <p:sp>
        <p:nvSpPr>
          <p:cNvPr id="18" name="TextBox 17"/>
          <p:cNvSpPr txBox="1"/>
          <p:nvPr/>
        </p:nvSpPr>
        <p:spPr>
          <a:xfrm>
            <a:off x="6428231" y="4288536"/>
            <a:ext cx="4846320" cy="274320"/>
          </a:xfrm>
          <a:prstGeom prst="rect">
            <a:avLst/>
          </a:prstGeom>
          <a:noFill/>
        </p:spPr>
        <p:txBody>
          <a:bodyPr wrap="square" lIns="0" rIns="0" tIns="0" bIns="0">
            <a:spAutoFit/>
          </a:bodyPr>
          <a:lstStyle/>
          <a:p>
            <a:pPr>
              <a:defRPr sz="1300" b="0">
                <a:solidFill>
                  <a:srgbClr val="A9BAD0"/>
                </a:solidFill>
                <a:latin typeface="맑은 고딕"/>
              </a:defRPr>
            </a:pPr>
            <a:r>
              <a:t>자격 등록 · 발급 · 조회</a:t>
            </a:r>
          </a:p>
        </p:txBody>
      </p:sp>
      <p:sp>
        <p:nvSpPr>
          <p:cNvPr id="19" name="Rectangle 18"/>
          <p:cNvSpPr/>
          <p:nvPr/>
        </p:nvSpPr>
        <p:spPr>
          <a:xfrm>
            <a:off x="731520" y="4782312"/>
            <a:ext cx="5257800" cy="886968"/>
          </a:xfrm>
          <a:prstGeom prst="rect">
            <a:avLst/>
          </a:prstGeom>
          <a:solidFill>
            <a:srgbClr val="1A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6112" y="4892040"/>
            <a:ext cx="4846320" cy="365760"/>
          </a:xfrm>
          <a:prstGeom prst="rect">
            <a:avLst/>
          </a:prstGeom>
          <a:noFill/>
        </p:spPr>
        <p:txBody>
          <a:bodyPr wrap="square" lIns="0" rIns="0" tIns="0" bIns="0">
            <a:spAutoFit/>
          </a:bodyPr>
          <a:lstStyle/>
          <a:p>
            <a:pPr>
              <a:defRPr sz="1900" b="1">
                <a:solidFill>
                  <a:srgbClr val="58D6BD"/>
                </a:solidFill>
                <a:latin typeface="맑은 고딕"/>
              </a:defRPr>
            </a:pPr>
            <a:r>
              <a:rPr>
                <a:hlinkClick r:id="rId6"/>
              </a:rPr>
              <a:t>Privacy · Clairveil ↗</a:t>
            </a:r>
          </a:p>
        </p:txBody>
      </p:sp>
      <p:sp>
        <p:nvSpPr>
          <p:cNvPr id="21" name="TextBox 20"/>
          <p:cNvSpPr txBox="1"/>
          <p:nvPr/>
        </p:nvSpPr>
        <p:spPr>
          <a:xfrm>
            <a:off x="896112" y="5321808"/>
            <a:ext cx="4846320" cy="274320"/>
          </a:xfrm>
          <a:prstGeom prst="rect">
            <a:avLst/>
          </a:prstGeom>
          <a:noFill/>
        </p:spPr>
        <p:txBody>
          <a:bodyPr wrap="square" lIns="0" rIns="0" tIns="0" bIns="0">
            <a:spAutoFit/>
          </a:bodyPr>
          <a:lstStyle/>
          <a:p>
            <a:pPr>
              <a:defRPr sz="1300" b="0">
                <a:solidFill>
                  <a:srgbClr val="A9BAD0"/>
                </a:solidFill>
                <a:latin typeface="맑은 고딕"/>
              </a:defRPr>
            </a:pPr>
            <a:r>
              <a:t>개념 문서 · 고정 소스 링크</a:t>
            </a:r>
          </a:p>
        </p:txBody>
      </p:sp>
      <p:sp>
        <p:nvSpPr>
          <p:cNvPr id="22" name="Rectangle 21"/>
          <p:cNvSpPr/>
          <p:nvPr/>
        </p:nvSpPr>
        <p:spPr>
          <a:xfrm>
            <a:off x="6263640" y="4782312"/>
            <a:ext cx="5257800" cy="886968"/>
          </a:xfrm>
          <a:prstGeom prst="rect">
            <a:avLst/>
          </a:prstGeom>
          <a:solidFill>
            <a:srgbClr val="1A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28231" y="4892040"/>
            <a:ext cx="4846320" cy="365760"/>
          </a:xfrm>
          <a:prstGeom prst="rect">
            <a:avLst/>
          </a:prstGeom>
          <a:noFill/>
        </p:spPr>
        <p:txBody>
          <a:bodyPr wrap="square" lIns="0" rIns="0" tIns="0" bIns="0">
            <a:spAutoFit/>
          </a:bodyPr>
          <a:lstStyle/>
          <a:p>
            <a:pPr>
              <a:defRPr sz="1900" b="1">
                <a:solidFill>
                  <a:srgbClr val="58D6BD"/>
                </a:solidFill>
                <a:latin typeface="맑은 고딕"/>
              </a:defRPr>
            </a:pPr>
            <a:r>
              <a:rPr>
                <a:hlinkClick r:id="rId7"/>
              </a:rPr>
              <a:t>Testnet Explorer ↗</a:t>
            </a:r>
          </a:p>
        </p:txBody>
      </p:sp>
      <p:sp>
        <p:nvSpPr>
          <p:cNvPr id="24" name="TextBox 23"/>
          <p:cNvSpPr txBox="1"/>
          <p:nvPr/>
        </p:nvSpPr>
        <p:spPr>
          <a:xfrm>
            <a:off x="6428231" y="5321808"/>
            <a:ext cx="4846320" cy="274320"/>
          </a:xfrm>
          <a:prstGeom prst="rect">
            <a:avLst/>
          </a:prstGeom>
          <a:noFill/>
        </p:spPr>
        <p:txBody>
          <a:bodyPr wrap="square" lIns="0" rIns="0" tIns="0" bIns="0">
            <a:spAutoFit/>
          </a:bodyPr>
          <a:lstStyle/>
          <a:p>
            <a:pPr>
              <a:defRPr sz="1300" b="0">
                <a:solidFill>
                  <a:srgbClr val="A9BAD0"/>
                </a:solidFill>
                <a:latin typeface="맑은 고딕"/>
              </a:defRPr>
            </a:pPr>
            <a:r>
              <a:t>실제 거래 영수증 · 처리 상태</a:t>
            </a:r>
          </a:p>
        </p:txBody>
      </p:sp>
      <p:sp>
        <p:nvSpPr>
          <p:cNvPr id="25" name="TextBox 24"/>
          <p:cNvSpPr txBox="1"/>
          <p:nvPr/>
        </p:nvSpPr>
        <p:spPr>
          <a:xfrm>
            <a:off x="640080" y="6519672"/>
            <a:ext cx="9144000" cy="182880"/>
          </a:xfrm>
          <a:prstGeom prst="rect">
            <a:avLst/>
          </a:prstGeom>
          <a:noFill/>
        </p:spPr>
        <p:txBody>
          <a:bodyPr wrap="square" lIns="0" rIns="0" tIns="0" bIns="0">
            <a:spAutoFit/>
          </a:bodyPr>
          <a:lstStyle/>
          <a:p>
            <a:pPr>
              <a:defRPr sz="1000" b="0">
                <a:solidFill>
                  <a:srgbClr val="A9BAD0"/>
                </a:solidFill>
                <a:latin typeface="맑은 고딕"/>
              </a:defRPr>
            </a:pPr>
            <a:r>
              <a:t>MAROO WORKSHOP / 설명 10장 · 실습은 웹사이트</a:t>
            </a:r>
          </a:p>
        </p:txBody>
      </p:sp>
      <p:sp>
        <p:nvSpPr>
          <p:cNvPr id="26" name="TextBox 25"/>
          <p:cNvSpPr txBox="1"/>
          <p:nvPr/>
        </p:nvSpPr>
        <p:spPr>
          <a:xfrm>
            <a:off x="10698480" y="6519672"/>
            <a:ext cx="914400" cy="182880"/>
          </a:xfrm>
          <a:prstGeom prst="rect">
            <a:avLst/>
          </a:prstGeom>
          <a:noFill/>
        </p:spPr>
        <p:txBody>
          <a:bodyPr wrap="square" lIns="0" rIns="0" tIns="0" bIns="0">
            <a:spAutoFit/>
          </a:bodyPr>
          <a:lstStyle/>
          <a:p>
            <a:pPr>
              <a:defRPr sz="1000" b="0">
                <a:solidFill>
                  <a:srgbClr val="A9BAD0"/>
                </a:solidFill>
                <a:latin typeface="맑은 고딕"/>
              </a:defRPr>
            </a:pPr>
            <a:r>
              <a:t>10 / 10</a:t>
            </a:r>
          </a:p>
        </p:txBody>
      </p:sp>
      <p:sp>
        <p:nvSpPr>
          <p:cNvPr id="27" name="Rectangle 26"/>
          <p:cNvSpPr/>
          <p:nvPr/>
        </p:nvSpPr>
        <p:spPr>
          <a:xfrm>
            <a:off x="640080" y="6382512"/>
            <a:ext cx="10899648" cy="13716"/>
          </a:xfrm>
          <a:prstGeom prst="rect">
            <a:avLst/>
          </a:prstGeom>
          <a:solidFill>
            <a:srgbClr val="1A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