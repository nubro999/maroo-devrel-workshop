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[00–01분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[01–02분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[02–03분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[03–04분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[04–05분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[05–06분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[06–07분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07A8A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00–01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6343B"/>
                </a:solidFill>
                <a:latin typeface="맑은 고딕"/>
              </a:defRPr>
            </a:pPr>
            <a:r>
              <a:t>지급 통제와 정보 보호를 두 실습으로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5C747B"/>
                </a:solidFill>
                <a:latin typeface="맑은 고딕"/>
              </a:defRPr>
            </a:pPr>
            <a:r>
              <a:t>은행·핀테크 엔지니어를 위한 Track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승인 상태를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체인 실행까지 연결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AC4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AC4A18"/>
                </a:solidFill>
                <a:latin typeface="맑은 고딕"/>
              </a:defRPr>
            </a:pPr>
            <a:r>
              <a:t>Maroo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PCL · EAS · tOKRW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Clairveil Privacy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독립 reference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557092" cy="16459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5C747B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C747B"/>
                </a:solidFill>
                <a:latin typeface="맑은 고딕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07A8A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01–02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6343B"/>
                </a:solidFill>
                <a:latin typeface="맑은 고딕"/>
              </a:defRPr>
            </a:pPr>
            <a:r>
              <a:t>심사는 은행에서, 실행 조건은 체인에서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5C747B"/>
                </a:solidFill>
                <a:latin typeface="맑은 고딕"/>
              </a:defRPr>
            </a:pPr>
            <a:r>
              <a:t>EAS 발급·인덱싱 → PCL 프록시 → 지급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자격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PCL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조건 평가·차단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증거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영수증·이벤트·상태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886200"/>
            <a:ext cx="411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0792" y="38679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07A8A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8392" y="3886200"/>
            <a:ext cx="411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35823" y="38679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07A8A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3114185" cy="16459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5C747B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C747B"/>
                </a:solidFill>
                <a:latin typeface="맑은 고딕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07A8A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02–03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6343B"/>
                </a:solidFill>
                <a:latin typeface="맑은 고딕"/>
              </a:defRPr>
            </a:pPr>
            <a:r>
              <a:t>자격 상태에 따라 실제 결과가 바뀝니다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5C747B"/>
                </a:solidFill>
                <a:latin typeface="맑은 고딕"/>
              </a:defRPr>
            </a:pPr>
            <a:r>
              <a:t>동일한 0.001 tOKRW 지급 요청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거절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유효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지급 성공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폐기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다시 거절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4671277" cy="16459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5C747B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C747B"/>
                </a:solidFill>
                <a:latin typeface="맑은 고딕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07A8A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03–04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6343B"/>
                </a:solidFill>
                <a:latin typeface="맑은 고딕"/>
              </a:defRPr>
            </a:pPr>
            <a:r>
              <a:t>승인 취소가 다음 지급을 막습니다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5C747B"/>
                </a:solidFill>
                <a:latin typeface="맑은 고딕"/>
              </a:defRPr>
            </a:pPr>
            <a:r>
              <a:t>기존 증명을 폐기한 뒤 같은 지급 요청을 비교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폐기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기존 자격 폐기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status 0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EasAttestationRevoked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수취인 증가량 0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발급자 제한은 별도 설계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6228370" cy="16459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5C747B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C747B"/>
                </a:solidFill>
                <a:latin typeface="맑은 고딕"/>
              </a:defRPr>
            </a:pPr>
            <a: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07A8A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04–05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6343B"/>
                </a:solidFill>
                <a:latin typeface="맑은 고딕"/>
              </a:defRPr>
            </a:pPr>
            <a:r>
              <a:t>로컬 Privacy는 10 → 7 + 3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5C747B"/>
                </a:solidFill>
                <a:latin typeface="맑은 고딕"/>
              </a:defRPr>
            </a:pPr>
            <a:r>
              <a:t>Maroo 호환성의 증거로 합산하지 않습니다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예치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Alice 10 uclair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지급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Bob에게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Alice 3 / Bob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886200"/>
            <a:ext cx="411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0792" y="38679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07A8A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8392" y="3886200"/>
            <a:ext cx="411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35823" y="38679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07A8A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7785462" cy="16459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5C747B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C747B"/>
                </a:solidFill>
                <a:latin typeface="맑은 고딕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07A8A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05–06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6343B"/>
                </a:solidFill>
                <a:latin typeface="맑은 고딕"/>
              </a:defRPr>
            </a:pPr>
            <a:r>
              <a:t>70분 워크숍을 재현 가능한 흐름으로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5C747B"/>
                </a:solidFill>
                <a:latin typeface="맑은 고딕"/>
              </a:defRPr>
            </a:pPr>
            <a:r>
              <a:t>사전 준비 → 설명 → 두 실습 → 결과 해석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진입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개인별 계정·자금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로컬 artifacts 준비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AC4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AC4A18"/>
                </a:solidFill>
                <a:latin typeface="맑은 고딕"/>
              </a:defRPr>
            </a:pPr>
            <a:r>
              <a:t>성공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실행 영수증·전후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실패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3분 진단 후 증거 분석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직접 성공과 구분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9342555" cy="16459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5C747B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C747B"/>
                </a:solidFill>
                <a:latin typeface="맑은 고딕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07A8A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06–07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6343B"/>
                </a:solidFill>
                <a:latin typeface="맑은 고딕"/>
              </a:defRPr>
            </a:pPr>
            <a:r>
              <a:t>DX와 AI 결과도 증거로 확인했습니다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5C747B"/>
                </a:solidFill>
                <a:latin typeface="맑은 고딕"/>
              </a:defRPr>
            </a:pPr>
            <a:r>
              <a:t>기능 수보다 검증 범위를 명확히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DX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Explorer 오류 표시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EAS 인덱싱 안내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AI 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placeholder 조회 오안내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simulation 인증 오해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182112"/>
            <a:ext cx="3529584" cy="2194560"/>
          </a:xfrm>
          <a:prstGeom prst="round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07A8A"/>
                </a:solidFill>
                <a:latin typeface="맑은 고딕"/>
              </a:defRPr>
            </a:pPr>
            <a:r>
              <a:t>현재 한계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실제 KYB·Maroo Privacy</a:t>
            </a:r>
          </a:p>
          <a:p>
            <a:pPr>
              <a:defRPr sz="1800" b="0">
                <a:solidFill>
                  <a:srgbClr val="16343B"/>
                </a:solidFill>
                <a:latin typeface="맑은 고딕"/>
              </a:defRPr>
            </a:pPr>
            <a:r>
              <a:t>운영 준비 미완료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C747B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E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5C747B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C747B"/>
                </a:solidFill>
                <a:latin typeface="맑은 고딕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