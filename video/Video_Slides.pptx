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[00–01분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[01–02분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[02–03분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[03–04분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[04–05분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[05–06분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[06–07분 / 1분]</a:t>
            </a:r>
          </a:p>
          <a:p>
            <a:r>
              <a:t>세부 발화와 화면 전환은 docs/VIDEO_SCRIPT.md의 해당 구간을 따릅니다. 7분은 목표 시간이며 실제 녹화 길이는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58D6BD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00–01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3F6FA"/>
                </a:solidFill>
                <a:latin typeface="맑은 고딕"/>
              </a:defRPr>
            </a:pPr>
            <a:r>
              <a:t>지급 통제와 정보 보호를 두 실습으로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A9BAD0"/>
                </a:solidFill>
                <a:latin typeface="맑은 고딕"/>
              </a:defRPr>
            </a:pPr>
            <a:r>
              <a:t>은행·핀테크 엔지니어를 위한 Track B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승인 상태를</a:t>
            </a:r>
          </a:p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체인 실행까지 연결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FFB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FFBD69"/>
                </a:solidFill>
                <a:latin typeface="맑은 고딕"/>
              </a:defRPr>
            </a:pPr>
            <a:r>
              <a:t>Maroo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PCL · EAS · tOKRW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BDA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BDABFF"/>
                </a:solidFill>
                <a:latin typeface="맑은 고딕"/>
              </a:defRPr>
            </a:pPr>
            <a:r>
              <a:t>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Clairveil Privacy</a:t>
            </a:r>
          </a:p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독립 reference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557092" cy="16459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9BAD0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A9BAD0"/>
                </a:solidFill>
                <a:latin typeface="맑은 고딕"/>
              </a:defRPr>
            </a:pPr>
            <a: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58D6BD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01–02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3F6FA"/>
                </a:solidFill>
                <a:latin typeface="맑은 고딕"/>
              </a:defRPr>
            </a:pPr>
            <a:r>
              <a:t>심사는 은행에서, 실행 조건은 체인에서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A9BAD0"/>
                </a:solidFill>
                <a:latin typeface="맑은 고딕"/>
              </a:defRPr>
            </a:pPr>
            <a:r>
              <a:t>EAS 발급·인덱싱 → PCL 프록시 → 지급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자격 기록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PCL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조건 평가·차단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증거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영수증·이벤트·상태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886200"/>
            <a:ext cx="411480" cy="411480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50792" y="38679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58D6BD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08392" y="3886200"/>
            <a:ext cx="411480" cy="411480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35823" y="38679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58D6BD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3114185" cy="16459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9BAD0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A9BAD0"/>
                </a:solidFill>
                <a:latin typeface="맑은 고딕"/>
              </a:defRPr>
            </a:pPr>
            <a: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58D6BD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02–03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3F6FA"/>
                </a:solidFill>
                <a:latin typeface="맑은 고딕"/>
              </a:defRPr>
            </a:pPr>
            <a:r>
              <a:t>자격 상태에 따라 실제 결과가 바뀝니다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A9BAD0"/>
                </a:solidFill>
                <a:latin typeface="맑은 고딕"/>
              </a:defRPr>
            </a:pPr>
            <a:r>
              <a:t>동일한 0.001 tOKRW 지급 요청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거절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유효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지급 성공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폐기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다시 거절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4671277" cy="16459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9BAD0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A9BAD0"/>
                </a:solidFill>
                <a:latin typeface="맑은 고딕"/>
              </a:defRPr>
            </a:pPr>
            <a: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58D6BD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03–04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3F6FA"/>
                </a:solidFill>
                <a:latin typeface="맑은 고딕"/>
              </a:defRPr>
            </a:pPr>
            <a:r>
              <a:t>false 증명도 지급이 통과했습니다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A9BAD0"/>
                </a:solidFill>
                <a:latin typeface="맑은 고딕"/>
              </a:defRPr>
            </a:pPr>
            <a:r>
              <a:t>온체인 데이터와 실제 거래 결과를 비교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false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성공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성공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설계 의미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승인 대상에게 발급</a:t>
            </a:r>
          </a:p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취소 시 폐기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6228370" cy="16459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9BAD0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A9BAD0"/>
                </a:solidFill>
                <a:latin typeface="맑은 고딕"/>
              </a:defRPr>
            </a:pPr>
            <a: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58D6BD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04–05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3F6FA"/>
                </a:solidFill>
                <a:latin typeface="맑은 고딕"/>
              </a:defRPr>
            </a:pPr>
            <a:r>
              <a:t>로컬 Privacy는 10 → 7 + 3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A9BAD0"/>
                </a:solidFill>
                <a:latin typeface="맑은 고딕"/>
              </a:defRPr>
            </a:pPr>
            <a:r>
              <a:t>Maroo 호환성의 증거로 합산하지 않습니다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예치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Alice 10 uclair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지급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Bob에게 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Alice 3 / Bob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886200"/>
            <a:ext cx="411480" cy="411480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50792" y="38679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58D6BD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08392" y="3886200"/>
            <a:ext cx="411480" cy="411480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35823" y="38679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58D6BD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7785462" cy="16459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9BAD0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A9BAD0"/>
                </a:solidFill>
                <a:latin typeface="맑은 고딕"/>
              </a:defRPr>
            </a:pPr>
            <a: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58D6BD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05–06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3F6FA"/>
                </a:solidFill>
                <a:latin typeface="맑은 고딕"/>
              </a:defRPr>
            </a:pPr>
            <a:r>
              <a:t>70분 워크숍을 재현 가능한 흐름으로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A9BAD0"/>
                </a:solidFill>
                <a:latin typeface="맑은 고딕"/>
              </a:defRPr>
            </a:pPr>
            <a:r>
              <a:t>사전 준비 → 설명 → 두 실습 → 결과 해석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진입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개인별 계정·자금</a:t>
            </a:r>
          </a:p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로컬 artifacts 준비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FFB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FFBD69"/>
                </a:solidFill>
                <a:latin typeface="맑은 고딕"/>
              </a:defRPr>
            </a:pPr>
            <a:r>
              <a:t>성공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실행 영수증·전후 상태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BDA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BDABFF"/>
                </a:solidFill>
                <a:latin typeface="맑은 고딕"/>
              </a:defRPr>
            </a:pPr>
            <a:r>
              <a:t>실패 대응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3분 진단 후 증거 분석</a:t>
            </a:r>
          </a:p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직접 성공과 구분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9342555" cy="16459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9BAD0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A9BAD0"/>
                </a:solidFill>
                <a:latin typeface="맑은 고딕"/>
              </a:defRPr>
            </a:pPr>
            <a: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64008" cy="256032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29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58D6BD"/>
                </a:solidFill>
                <a:latin typeface="맑은 고딕"/>
              </a:defRPr>
            </a:pPr>
            <a:r>
              <a:t>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4297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06–07 MIN  /  1분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33271"/>
            <a:ext cx="109270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3F6FA"/>
                </a:solidFill>
                <a:latin typeface="맑은 고딕"/>
              </a:defRPr>
            </a:pPr>
            <a:r>
              <a:t>DX와 AI 결과도 증거로 확인했습니다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A9BAD0"/>
                </a:solidFill>
                <a:latin typeface="맑은 고딕"/>
              </a:defRPr>
            </a:pPr>
            <a:r>
              <a:t>기능 수보다 검증 범위를 명확히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DX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Explorer 오류 표시</a:t>
            </a:r>
          </a:p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EAS 인덱싱 안내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AI 정정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placeholder 조회 오안내</a:t>
            </a:r>
          </a:p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simulation 인증 오해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182112"/>
            <a:ext cx="3529584" cy="219456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3182112"/>
            <a:ext cx="3529584" cy="32004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3438144"/>
            <a:ext cx="3127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58D6BD"/>
                </a:solidFill>
                <a:latin typeface="맑은 고딕"/>
              </a:defRPr>
            </a:pPr>
            <a:r>
              <a:t>현재 한계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096512"/>
            <a:ext cx="31272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실제 KYB·Maroo Privacy</a:t>
            </a:r>
          </a:p>
          <a:p>
            <a:pPr>
              <a:defRPr sz="1800" b="0">
                <a:solidFill>
                  <a:srgbClr val="F3F6FA"/>
                </a:solidFill>
                <a:latin typeface="맑은 고딕"/>
              </a:defRPr>
            </a:pPr>
            <a:r>
              <a:t>운영 준비 미완료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A9BAD0"/>
                </a:solidFill>
                <a:latin typeface="맑은 고딕"/>
              </a:defRPr>
            </a:pPr>
            <a:r>
              <a:t>MAROO DEVREL WORKSHOP  /  TRACK B  /  제출용 영상 자료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899648" cy="16459"/>
          </a:xfrm>
          <a:prstGeom prst="rect">
            <a:avLst/>
          </a:prstGeom>
          <a:solidFill>
            <a:srgbClr val="58D6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653796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A9BAD0"/>
                </a:solidFill>
                <a:latin typeface="맑은 고딕"/>
              </a:defRPr>
            </a:pPr>
            <a:r>
              <a:t>nubro999 / maroo-devrel-workshop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A9BAD0"/>
                </a:solidFill>
                <a:latin typeface="맑은 고딕"/>
              </a:defRPr>
            </a:pPr>
            <a: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